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Lst>
  <p:notesMasterIdLst>
    <p:notesMasterId r:id="rId20"/>
  </p:notesMasterIdLst>
  <p:handoutMasterIdLst>
    <p:handoutMasterId r:id="rId21"/>
  </p:handoutMasterIdLst>
  <p:sldIdLst>
    <p:sldId id="289" r:id="rId5"/>
    <p:sldId id="288" r:id="rId6"/>
    <p:sldId id="261" r:id="rId7"/>
    <p:sldId id="290" r:id="rId8"/>
    <p:sldId id="264" r:id="rId9"/>
    <p:sldId id="265" r:id="rId10"/>
    <p:sldId id="291" r:id="rId11"/>
    <p:sldId id="293" r:id="rId12"/>
    <p:sldId id="294" r:id="rId13"/>
    <p:sldId id="292" r:id="rId14"/>
    <p:sldId id="295" r:id="rId15"/>
    <p:sldId id="296" r:id="rId16"/>
    <p:sldId id="297" r:id="rId17"/>
    <p:sldId id="299" r:id="rId18"/>
    <p:sldId id="26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CA1769-0D57-9FD9-5EFA-55B1D3416E54}" v="15" dt="2025-11-24T20:15:03.937"/>
  </p1510:revLst>
</p1510:revInfo>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58" autoAdjust="0"/>
    <p:restoredTop sz="94694" autoAdjust="0"/>
  </p:normalViewPr>
  <p:slideViewPr>
    <p:cSldViewPr snapToGrid="0">
      <p:cViewPr varScale="1">
        <p:scale>
          <a:sx n="110" d="100"/>
          <a:sy n="110" d="100"/>
        </p:scale>
        <p:origin x="72" y="3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B349B5-205E-4556-8C3B-F0586FD25158}"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E3165C27-BC14-4096-A4BC-7CF88639B2B8}">
      <dgm:prSet/>
      <dgm:spPr/>
      <dgm:t>
        <a:bodyPr/>
        <a:lstStyle/>
        <a:p>
          <a:r>
            <a:rPr lang="en-US"/>
            <a:t>Motivação</a:t>
          </a:r>
        </a:p>
      </dgm:t>
    </dgm:pt>
    <dgm:pt modelId="{FF121ACB-596E-49A4-AEC3-808C02119028}" type="parTrans" cxnId="{8AA9CC45-07F7-4409-81AF-349B6539C805}">
      <dgm:prSet/>
      <dgm:spPr/>
      <dgm:t>
        <a:bodyPr/>
        <a:lstStyle/>
        <a:p>
          <a:endParaRPr lang="en-US"/>
        </a:p>
      </dgm:t>
    </dgm:pt>
    <dgm:pt modelId="{A4C580F9-AA87-4154-85D3-5C6AC6EC8A6C}" type="sibTrans" cxnId="{8AA9CC45-07F7-4409-81AF-349B6539C805}">
      <dgm:prSet/>
      <dgm:spPr/>
      <dgm:t>
        <a:bodyPr/>
        <a:lstStyle/>
        <a:p>
          <a:endParaRPr lang="en-US"/>
        </a:p>
      </dgm:t>
    </dgm:pt>
    <dgm:pt modelId="{C261A4D1-1175-4A6A-A32E-06185F5DE172}">
      <dgm:prSet/>
      <dgm:spPr/>
      <dgm:t>
        <a:bodyPr/>
        <a:lstStyle/>
        <a:p>
          <a:r>
            <a:rPr lang="en-US"/>
            <a:t>Trabalhos Relacionados</a:t>
          </a:r>
        </a:p>
      </dgm:t>
    </dgm:pt>
    <dgm:pt modelId="{004DC6C2-CFC1-496A-854A-D0E5ED1B172C}" type="parTrans" cxnId="{A6078F09-2BC8-4B7E-B912-36B76E423629}">
      <dgm:prSet/>
      <dgm:spPr/>
      <dgm:t>
        <a:bodyPr/>
        <a:lstStyle/>
        <a:p>
          <a:endParaRPr lang="en-US"/>
        </a:p>
      </dgm:t>
    </dgm:pt>
    <dgm:pt modelId="{98029B93-9301-4CE9-BE1F-339CFB8591DA}" type="sibTrans" cxnId="{A6078F09-2BC8-4B7E-B912-36B76E423629}">
      <dgm:prSet/>
      <dgm:spPr/>
      <dgm:t>
        <a:bodyPr/>
        <a:lstStyle/>
        <a:p>
          <a:endParaRPr lang="en-US"/>
        </a:p>
      </dgm:t>
    </dgm:pt>
    <dgm:pt modelId="{F071BE51-CACA-49CF-AC7B-723488F6B7A4}">
      <dgm:prSet/>
      <dgm:spPr/>
      <dgm:t>
        <a:bodyPr/>
        <a:lstStyle/>
        <a:p>
          <a:r>
            <a:rPr lang="en-US"/>
            <a:t>Solução Proposta</a:t>
          </a:r>
        </a:p>
      </dgm:t>
    </dgm:pt>
    <dgm:pt modelId="{21BDAD0D-39A4-464D-8BC3-294CE46EE71D}" type="parTrans" cxnId="{2D7ABE0B-A0AA-4A37-950C-9244E2D74479}">
      <dgm:prSet/>
      <dgm:spPr/>
      <dgm:t>
        <a:bodyPr/>
        <a:lstStyle/>
        <a:p>
          <a:endParaRPr lang="en-US"/>
        </a:p>
      </dgm:t>
    </dgm:pt>
    <dgm:pt modelId="{53D063A7-F779-48B6-95A6-932C1F6A4FA7}" type="sibTrans" cxnId="{2D7ABE0B-A0AA-4A37-950C-9244E2D74479}">
      <dgm:prSet/>
      <dgm:spPr/>
      <dgm:t>
        <a:bodyPr/>
        <a:lstStyle/>
        <a:p>
          <a:endParaRPr lang="en-US"/>
        </a:p>
      </dgm:t>
    </dgm:pt>
    <dgm:pt modelId="{5DAB3EAA-8774-4427-8905-95F0CCE97ADF}">
      <dgm:prSet/>
      <dgm:spPr/>
      <dgm:t>
        <a:bodyPr/>
        <a:lstStyle/>
        <a:p>
          <a:r>
            <a:rPr lang="en-US"/>
            <a:t>Resultados</a:t>
          </a:r>
        </a:p>
      </dgm:t>
    </dgm:pt>
    <dgm:pt modelId="{785640A0-7D74-4E59-B51B-89275312A075}" type="parTrans" cxnId="{908EADCD-A632-48AF-92D9-78C433E729D0}">
      <dgm:prSet/>
      <dgm:spPr/>
      <dgm:t>
        <a:bodyPr/>
        <a:lstStyle/>
        <a:p>
          <a:endParaRPr lang="en-US"/>
        </a:p>
      </dgm:t>
    </dgm:pt>
    <dgm:pt modelId="{6E68DC3D-A111-4818-8307-BA12C1F88342}" type="sibTrans" cxnId="{908EADCD-A632-48AF-92D9-78C433E729D0}">
      <dgm:prSet/>
      <dgm:spPr/>
      <dgm:t>
        <a:bodyPr/>
        <a:lstStyle/>
        <a:p>
          <a:endParaRPr lang="en-US"/>
        </a:p>
      </dgm:t>
    </dgm:pt>
    <dgm:pt modelId="{40C78566-E625-4D36-B12E-53DA56CD9F4B}">
      <dgm:prSet/>
      <dgm:spPr/>
      <dgm:t>
        <a:bodyPr/>
        <a:lstStyle/>
        <a:p>
          <a:r>
            <a:rPr lang="en-US"/>
            <a:t>Conclusão</a:t>
          </a:r>
        </a:p>
      </dgm:t>
    </dgm:pt>
    <dgm:pt modelId="{61CF2875-2D87-4ED1-A357-7710308B43B9}" type="parTrans" cxnId="{2A8D4D1D-6FF4-42D0-9AD2-172D69FFDF02}">
      <dgm:prSet/>
      <dgm:spPr/>
      <dgm:t>
        <a:bodyPr/>
        <a:lstStyle/>
        <a:p>
          <a:endParaRPr lang="en-US"/>
        </a:p>
      </dgm:t>
    </dgm:pt>
    <dgm:pt modelId="{5D18E7F7-C09E-43AE-86DF-158DD0F377A6}" type="sibTrans" cxnId="{2A8D4D1D-6FF4-42D0-9AD2-172D69FFDF02}">
      <dgm:prSet/>
      <dgm:spPr/>
      <dgm:t>
        <a:bodyPr/>
        <a:lstStyle/>
        <a:p>
          <a:endParaRPr lang="en-US"/>
        </a:p>
      </dgm:t>
    </dgm:pt>
    <dgm:pt modelId="{A82C2F59-B266-4033-9E5D-F38DAFA7ABE9}" type="pres">
      <dgm:prSet presAssocID="{AEB349B5-205E-4556-8C3B-F0586FD25158}" presName="outerComposite" presStyleCnt="0">
        <dgm:presLayoutVars>
          <dgm:chMax val="5"/>
          <dgm:dir/>
          <dgm:resizeHandles val="exact"/>
        </dgm:presLayoutVars>
      </dgm:prSet>
      <dgm:spPr/>
    </dgm:pt>
    <dgm:pt modelId="{92FDA8EC-E77D-4363-831A-8AB3C676C16F}" type="pres">
      <dgm:prSet presAssocID="{AEB349B5-205E-4556-8C3B-F0586FD25158}" presName="dummyMaxCanvas" presStyleCnt="0">
        <dgm:presLayoutVars/>
      </dgm:prSet>
      <dgm:spPr/>
    </dgm:pt>
    <dgm:pt modelId="{7C6F3C43-74F9-4135-BCC2-7AE0CC8172F9}" type="pres">
      <dgm:prSet presAssocID="{AEB349B5-205E-4556-8C3B-F0586FD25158}" presName="FiveNodes_1" presStyleLbl="node1" presStyleIdx="0" presStyleCnt="5">
        <dgm:presLayoutVars>
          <dgm:bulletEnabled val="1"/>
        </dgm:presLayoutVars>
      </dgm:prSet>
      <dgm:spPr/>
    </dgm:pt>
    <dgm:pt modelId="{D5B88B05-8A40-4482-837A-335588443DBA}" type="pres">
      <dgm:prSet presAssocID="{AEB349B5-205E-4556-8C3B-F0586FD25158}" presName="FiveNodes_2" presStyleLbl="node1" presStyleIdx="1" presStyleCnt="5">
        <dgm:presLayoutVars>
          <dgm:bulletEnabled val="1"/>
        </dgm:presLayoutVars>
      </dgm:prSet>
      <dgm:spPr/>
    </dgm:pt>
    <dgm:pt modelId="{A1096DA3-C669-4E60-8076-8325656232D3}" type="pres">
      <dgm:prSet presAssocID="{AEB349B5-205E-4556-8C3B-F0586FD25158}" presName="FiveNodes_3" presStyleLbl="node1" presStyleIdx="2" presStyleCnt="5">
        <dgm:presLayoutVars>
          <dgm:bulletEnabled val="1"/>
        </dgm:presLayoutVars>
      </dgm:prSet>
      <dgm:spPr/>
    </dgm:pt>
    <dgm:pt modelId="{90076FAC-E0D1-4E49-8904-24FF6B8D9EC0}" type="pres">
      <dgm:prSet presAssocID="{AEB349B5-205E-4556-8C3B-F0586FD25158}" presName="FiveNodes_4" presStyleLbl="node1" presStyleIdx="3" presStyleCnt="5">
        <dgm:presLayoutVars>
          <dgm:bulletEnabled val="1"/>
        </dgm:presLayoutVars>
      </dgm:prSet>
      <dgm:spPr/>
    </dgm:pt>
    <dgm:pt modelId="{D113CBF1-E892-4197-96A5-A791F5C81DF9}" type="pres">
      <dgm:prSet presAssocID="{AEB349B5-205E-4556-8C3B-F0586FD25158}" presName="FiveNodes_5" presStyleLbl="node1" presStyleIdx="4" presStyleCnt="5">
        <dgm:presLayoutVars>
          <dgm:bulletEnabled val="1"/>
        </dgm:presLayoutVars>
      </dgm:prSet>
      <dgm:spPr/>
    </dgm:pt>
    <dgm:pt modelId="{29CFB33B-F955-4B0E-A250-3406CD3BB667}" type="pres">
      <dgm:prSet presAssocID="{AEB349B5-205E-4556-8C3B-F0586FD25158}" presName="FiveConn_1-2" presStyleLbl="fgAccFollowNode1" presStyleIdx="0" presStyleCnt="4">
        <dgm:presLayoutVars>
          <dgm:bulletEnabled val="1"/>
        </dgm:presLayoutVars>
      </dgm:prSet>
      <dgm:spPr/>
    </dgm:pt>
    <dgm:pt modelId="{2390490B-1580-41F4-9B4B-C1C4AFB9255C}" type="pres">
      <dgm:prSet presAssocID="{AEB349B5-205E-4556-8C3B-F0586FD25158}" presName="FiveConn_2-3" presStyleLbl="fgAccFollowNode1" presStyleIdx="1" presStyleCnt="4">
        <dgm:presLayoutVars>
          <dgm:bulletEnabled val="1"/>
        </dgm:presLayoutVars>
      </dgm:prSet>
      <dgm:spPr/>
    </dgm:pt>
    <dgm:pt modelId="{6EB055D5-8F6B-4981-A567-331B07D87302}" type="pres">
      <dgm:prSet presAssocID="{AEB349B5-205E-4556-8C3B-F0586FD25158}" presName="FiveConn_3-4" presStyleLbl="fgAccFollowNode1" presStyleIdx="2" presStyleCnt="4">
        <dgm:presLayoutVars>
          <dgm:bulletEnabled val="1"/>
        </dgm:presLayoutVars>
      </dgm:prSet>
      <dgm:spPr/>
    </dgm:pt>
    <dgm:pt modelId="{22D8CCD7-691E-4DFB-A39D-AF447D0A0ED1}" type="pres">
      <dgm:prSet presAssocID="{AEB349B5-205E-4556-8C3B-F0586FD25158}" presName="FiveConn_4-5" presStyleLbl="fgAccFollowNode1" presStyleIdx="3" presStyleCnt="4">
        <dgm:presLayoutVars>
          <dgm:bulletEnabled val="1"/>
        </dgm:presLayoutVars>
      </dgm:prSet>
      <dgm:spPr/>
    </dgm:pt>
    <dgm:pt modelId="{03F5E2FE-7D35-4421-B007-191C9AC6CA20}" type="pres">
      <dgm:prSet presAssocID="{AEB349B5-205E-4556-8C3B-F0586FD25158}" presName="FiveNodes_1_text" presStyleLbl="node1" presStyleIdx="4" presStyleCnt="5">
        <dgm:presLayoutVars>
          <dgm:bulletEnabled val="1"/>
        </dgm:presLayoutVars>
      </dgm:prSet>
      <dgm:spPr/>
    </dgm:pt>
    <dgm:pt modelId="{DF29E9E4-4A9A-4047-91B6-6C7297B80AF3}" type="pres">
      <dgm:prSet presAssocID="{AEB349B5-205E-4556-8C3B-F0586FD25158}" presName="FiveNodes_2_text" presStyleLbl="node1" presStyleIdx="4" presStyleCnt="5">
        <dgm:presLayoutVars>
          <dgm:bulletEnabled val="1"/>
        </dgm:presLayoutVars>
      </dgm:prSet>
      <dgm:spPr/>
    </dgm:pt>
    <dgm:pt modelId="{0402674E-E1E4-4095-A489-EF1DAC5647E3}" type="pres">
      <dgm:prSet presAssocID="{AEB349B5-205E-4556-8C3B-F0586FD25158}" presName="FiveNodes_3_text" presStyleLbl="node1" presStyleIdx="4" presStyleCnt="5">
        <dgm:presLayoutVars>
          <dgm:bulletEnabled val="1"/>
        </dgm:presLayoutVars>
      </dgm:prSet>
      <dgm:spPr/>
    </dgm:pt>
    <dgm:pt modelId="{DDA5BC2D-02EE-45D8-BD89-286CA98ED228}" type="pres">
      <dgm:prSet presAssocID="{AEB349B5-205E-4556-8C3B-F0586FD25158}" presName="FiveNodes_4_text" presStyleLbl="node1" presStyleIdx="4" presStyleCnt="5">
        <dgm:presLayoutVars>
          <dgm:bulletEnabled val="1"/>
        </dgm:presLayoutVars>
      </dgm:prSet>
      <dgm:spPr/>
    </dgm:pt>
    <dgm:pt modelId="{59AC98CC-820F-4107-A98D-23B7F8CBAF0C}" type="pres">
      <dgm:prSet presAssocID="{AEB349B5-205E-4556-8C3B-F0586FD25158}" presName="FiveNodes_5_text" presStyleLbl="node1" presStyleIdx="4" presStyleCnt="5">
        <dgm:presLayoutVars>
          <dgm:bulletEnabled val="1"/>
        </dgm:presLayoutVars>
      </dgm:prSet>
      <dgm:spPr/>
    </dgm:pt>
  </dgm:ptLst>
  <dgm:cxnLst>
    <dgm:cxn modelId="{A6078F09-2BC8-4B7E-B912-36B76E423629}" srcId="{AEB349B5-205E-4556-8C3B-F0586FD25158}" destId="{C261A4D1-1175-4A6A-A32E-06185F5DE172}" srcOrd="1" destOrd="0" parTransId="{004DC6C2-CFC1-496A-854A-D0E5ED1B172C}" sibTransId="{98029B93-9301-4CE9-BE1F-339CFB8591DA}"/>
    <dgm:cxn modelId="{2D7ABE0B-A0AA-4A37-950C-9244E2D74479}" srcId="{AEB349B5-205E-4556-8C3B-F0586FD25158}" destId="{F071BE51-CACA-49CF-AC7B-723488F6B7A4}" srcOrd="2" destOrd="0" parTransId="{21BDAD0D-39A4-464D-8BC3-294CE46EE71D}" sibTransId="{53D063A7-F779-48B6-95A6-932C1F6A4FA7}"/>
    <dgm:cxn modelId="{2A8D4D1D-6FF4-42D0-9AD2-172D69FFDF02}" srcId="{AEB349B5-205E-4556-8C3B-F0586FD25158}" destId="{40C78566-E625-4D36-B12E-53DA56CD9F4B}" srcOrd="4" destOrd="0" parTransId="{61CF2875-2D87-4ED1-A357-7710308B43B9}" sibTransId="{5D18E7F7-C09E-43AE-86DF-158DD0F377A6}"/>
    <dgm:cxn modelId="{BC52CA34-7314-4B4E-8DE4-80AE2ED2CA49}" type="presOf" srcId="{53D063A7-F779-48B6-95A6-932C1F6A4FA7}" destId="{6EB055D5-8F6B-4981-A567-331B07D87302}" srcOrd="0" destOrd="0" presId="urn:microsoft.com/office/officeart/2005/8/layout/vProcess5"/>
    <dgm:cxn modelId="{71B1A538-2E8F-43A3-A38D-369FB67EE368}" type="presOf" srcId="{5DAB3EAA-8774-4427-8905-95F0CCE97ADF}" destId="{90076FAC-E0D1-4E49-8904-24FF6B8D9EC0}" srcOrd="0" destOrd="0" presId="urn:microsoft.com/office/officeart/2005/8/layout/vProcess5"/>
    <dgm:cxn modelId="{8AA9CC45-07F7-4409-81AF-349B6539C805}" srcId="{AEB349B5-205E-4556-8C3B-F0586FD25158}" destId="{E3165C27-BC14-4096-A4BC-7CF88639B2B8}" srcOrd="0" destOrd="0" parTransId="{FF121ACB-596E-49A4-AEC3-808C02119028}" sibTransId="{A4C580F9-AA87-4154-85D3-5C6AC6EC8A6C}"/>
    <dgm:cxn modelId="{580B796B-AB25-4BA4-B31E-77A15548EE3D}" type="presOf" srcId="{40C78566-E625-4D36-B12E-53DA56CD9F4B}" destId="{59AC98CC-820F-4107-A98D-23B7F8CBAF0C}" srcOrd="1" destOrd="0" presId="urn:microsoft.com/office/officeart/2005/8/layout/vProcess5"/>
    <dgm:cxn modelId="{626D096C-7F2B-4E08-8ABF-32C05D62C3B0}" type="presOf" srcId="{F071BE51-CACA-49CF-AC7B-723488F6B7A4}" destId="{0402674E-E1E4-4095-A489-EF1DAC5647E3}" srcOrd="1" destOrd="0" presId="urn:microsoft.com/office/officeart/2005/8/layout/vProcess5"/>
    <dgm:cxn modelId="{1D58A06C-427A-43CB-8B20-C299ABD816B0}" type="presOf" srcId="{A4C580F9-AA87-4154-85D3-5C6AC6EC8A6C}" destId="{29CFB33B-F955-4B0E-A250-3406CD3BB667}" srcOrd="0" destOrd="0" presId="urn:microsoft.com/office/officeart/2005/8/layout/vProcess5"/>
    <dgm:cxn modelId="{80876455-0202-4704-8351-C9CD8ED4CC01}" type="presOf" srcId="{E3165C27-BC14-4096-A4BC-7CF88639B2B8}" destId="{03F5E2FE-7D35-4421-B007-191C9AC6CA20}" srcOrd="1" destOrd="0" presId="urn:microsoft.com/office/officeart/2005/8/layout/vProcess5"/>
    <dgm:cxn modelId="{377BA78D-7195-479C-846D-636DBDD26E8E}" type="presOf" srcId="{AEB349B5-205E-4556-8C3B-F0586FD25158}" destId="{A82C2F59-B266-4033-9E5D-F38DAFA7ABE9}" srcOrd="0" destOrd="0" presId="urn:microsoft.com/office/officeart/2005/8/layout/vProcess5"/>
    <dgm:cxn modelId="{6269099A-B715-464C-8724-626B81766AA7}" type="presOf" srcId="{6E68DC3D-A111-4818-8307-BA12C1F88342}" destId="{22D8CCD7-691E-4DFB-A39D-AF447D0A0ED1}" srcOrd="0" destOrd="0" presId="urn:microsoft.com/office/officeart/2005/8/layout/vProcess5"/>
    <dgm:cxn modelId="{2FBDB69F-8F2C-4D5A-9698-0E91B2CD501D}" type="presOf" srcId="{C261A4D1-1175-4A6A-A32E-06185F5DE172}" destId="{DF29E9E4-4A9A-4047-91B6-6C7297B80AF3}" srcOrd="1" destOrd="0" presId="urn:microsoft.com/office/officeart/2005/8/layout/vProcess5"/>
    <dgm:cxn modelId="{A5F7ACA9-8635-4A02-BC60-FE3952B3FE06}" type="presOf" srcId="{98029B93-9301-4CE9-BE1F-339CFB8591DA}" destId="{2390490B-1580-41F4-9B4B-C1C4AFB9255C}" srcOrd="0" destOrd="0" presId="urn:microsoft.com/office/officeart/2005/8/layout/vProcess5"/>
    <dgm:cxn modelId="{A6674AB5-96A2-40A6-98E4-9383AB73939C}" type="presOf" srcId="{F071BE51-CACA-49CF-AC7B-723488F6B7A4}" destId="{A1096DA3-C669-4E60-8076-8325656232D3}" srcOrd="0" destOrd="0" presId="urn:microsoft.com/office/officeart/2005/8/layout/vProcess5"/>
    <dgm:cxn modelId="{51B9C1C0-F661-4A94-A580-1390B7857A39}" type="presOf" srcId="{C261A4D1-1175-4A6A-A32E-06185F5DE172}" destId="{D5B88B05-8A40-4482-837A-335588443DBA}" srcOrd="0" destOrd="0" presId="urn:microsoft.com/office/officeart/2005/8/layout/vProcess5"/>
    <dgm:cxn modelId="{74BBE1C0-AAC0-4A45-97A8-4C0974E207BC}" type="presOf" srcId="{5DAB3EAA-8774-4427-8905-95F0CCE97ADF}" destId="{DDA5BC2D-02EE-45D8-BD89-286CA98ED228}" srcOrd="1" destOrd="0" presId="urn:microsoft.com/office/officeart/2005/8/layout/vProcess5"/>
    <dgm:cxn modelId="{908EADCD-A632-48AF-92D9-78C433E729D0}" srcId="{AEB349B5-205E-4556-8C3B-F0586FD25158}" destId="{5DAB3EAA-8774-4427-8905-95F0CCE97ADF}" srcOrd="3" destOrd="0" parTransId="{785640A0-7D74-4E59-B51B-89275312A075}" sibTransId="{6E68DC3D-A111-4818-8307-BA12C1F88342}"/>
    <dgm:cxn modelId="{45B95DD0-D55C-40B4-96BD-3006AE4EC802}" type="presOf" srcId="{E3165C27-BC14-4096-A4BC-7CF88639B2B8}" destId="{7C6F3C43-74F9-4135-BCC2-7AE0CC8172F9}" srcOrd="0" destOrd="0" presId="urn:microsoft.com/office/officeart/2005/8/layout/vProcess5"/>
    <dgm:cxn modelId="{8561B4F0-8791-4BB5-9352-4CB446482342}" type="presOf" srcId="{40C78566-E625-4D36-B12E-53DA56CD9F4B}" destId="{D113CBF1-E892-4197-96A5-A791F5C81DF9}" srcOrd="0" destOrd="0" presId="urn:microsoft.com/office/officeart/2005/8/layout/vProcess5"/>
    <dgm:cxn modelId="{95753D96-8B9C-4C84-9F3E-B8F8B2446884}" type="presParOf" srcId="{A82C2F59-B266-4033-9E5D-F38DAFA7ABE9}" destId="{92FDA8EC-E77D-4363-831A-8AB3C676C16F}" srcOrd="0" destOrd="0" presId="urn:microsoft.com/office/officeart/2005/8/layout/vProcess5"/>
    <dgm:cxn modelId="{FE77A410-77A7-4A6A-9440-B1A526B7ABBA}" type="presParOf" srcId="{A82C2F59-B266-4033-9E5D-F38DAFA7ABE9}" destId="{7C6F3C43-74F9-4135-BCC2-7AE0CC8172F9}" srcOrd="1" destOrd="0" presId="urn:microsoft.com/office/officeart/2005/8/layout/vProcess5"/>
    <dgm:cxn modelId="{ECF65529-0AB3-4E4A-AF01-B1C507344E6E}" type="presParOf" srcId="{A82C2F59-B266-4033-9E5D-F38DAFA7ABE9}" destId="{D5B88B05-8A40-4482-837A-335588443DBA}" srcOrd="2" destOrd="0" presId="urn:microsoft.com/office/officeart/2005/8/layout/vProcess5"/>
    <dgm:cxn modelId="{4403F226-AAB2-4E80-AB15-0A2516537477}" type="presParOf" srcId="{A82C2F59-B266-4033-9E5D-F38DAFA7ABE9}" destId="{A1096DA3-C669-4E60-8076-8325656232D3}" srcOrd="3" destOrd="0" presId="urn:microsoft.com/office/officeart/2005/8/layout/vProcess5"/>
    <dgm:cxn modelId="{EE1B981A-74DF-417E-B6BC-BF6B0E57D11E}" type="presParOf" srcId="{A82C2F59-B266-4033-9E5D-F38DAFA7ABE9}" destId="{90076FAC-E0D1-4E49-8904-24FF6B8D9EC0}" srcOrd="4" destOrd="0" presId="urn:microsoft.com/office/officeart/2005/8/layout/vProcess5"/>
    <dgm:cxn modelId="{6528C350-D786-4CEB-949F-F7D3F393ADFD}" type="presParOf" srcId="{A82C2F59-B266-4033-9E5D-F38DAFA7ABE9}" destId="{D113CBF1-E892-4197-96A5-A791F5C81DF9}" srcOrd="5" destOrd="0" presId="urn:microsoft.com/office/officeart/2005/8/layout/vProcess5"/>
    <dgm:cxn modelId="{10AB605B-83CC-412E-BE06-C4EB2ADA8EA4}" type="presParOf" srcId="{A82C2F59-B266-4033-9E5D-F38DAFA7ABE9}" destId="{29CFB33B-F955-4B0E-A250-3406CD3BB667}" srcOrd="6" destOrd="0" presId="urn:microsoft.com/office/officeart/2005/8/layout/vProcess5"/>
    <dgm:cxn modelId="{B23C2794-87AA-4CDE-87CB-D62710C68BEA}" type="presParOf" srcId="{A82C2F59-B266-4033-9E5D-F38DAFA7ABE9}" destId="{2390490B-1580-41F4-9B4B-C1C4AFB9255C}" srcOrd="7" destOrd="0" presId="urn:microsoft.com/office/officeart/2005/8/layout/vProcess5"/>
    <dgm:cxn modelId="{46F41F9C-29DF-444D-B120-B05DCF7FF224}" type="presParOf" srcId="{A82C2F59-B266-4033-9E5D-F38DAFA7ABE9}" destId="{6EB055D5-8F6B-4981-A567-331B07D87302}" srcOrd="8" destOrd="0" presId="urn:microsoft.com/office/officeart/2005/8/layout/vProcess5"/>
    <dgm:cxn modelId="{89358034-B9AF-4A2D-BDEF-956B07BBB242}" type="presParOf" srcId="{A82C2F59-B266-4033-9E5D-F38DAFA7ABE9}" destId="{22D8CCD7-691E-4DFB-A39D-AF447D0A0ED1}" srcOrd="9" destOrd="0" presId="urn:microsoft.com/office/officeart/2005/8/layout/vProcess5"/>
    <dgm:cxn modelId="{B095958D-C944-48E3-8081-A9B3A4457C75}" type="presParOf" srcId="{A82C2F59-B266-4033-9E5D-F38DAFA7ABE9}" destId="{03F5E2FE-7D35-4421-B007-191C9AC6CA20}" srcOrd="10" destOrd="0" presId="urn:microsoft.com/office/officeart/2005/8/layout/vProcess5"/>
    <dgm:cxn modelId="{529C92ED-A606-478A-BFD1-1C938E702521}" type="presParOf" srcId="{A82C2F59-B266-4033-9E5D-F38DAFA7ABE9}" destId="{DF29E9E4-4A9A-4047-91B6-6C7297B80AF3}" srcOrd="11" destOrd="0" presId="urn:microsoft.com/office/officeart/2005/8/layout/vProcess5"/>
    <dgm:cxn modelId="{5EF5124B-744C-48BD-AFBA-9BDB52F0E26F}" type="presParOf" srcId="{A82C2F59-B266-4033-9E5D-F38DAFA7ABE9}" destId="{0402674E-E1E4-4095-A489-EF1DAC5647E3}" srcOrd="12" destOrd="0" presId="urn:microsoft.com/office/officeart/2005/8/layout/vProcess5"/>
    <dgm:cxn modelId="{3531BB46-4610-4125-8E55-F774123B5745}" type="presParOf" srcId="{A82C2F59-B266-4033-9E5D-F38DAFA7ABE9}" destId="{DDA5BC2D-02EE-45D8-BD89-286CA98ED228}" srcOrd="13" destOrd="0" presId="urn:microsoft.com/office/officeart/2005/8/layout/vProcess5"/>
    <dgm:cxn modelId="{2720CD40-8E0F-4B3A-899F-679E2F5D7542}" type="presParOf" srcId="{A82C2F59-B266-4033-9E5D-F38DAFA7ABE9}" destId="{59AC98CC-820F-4107-A98D-23B7F8CBAF0C}"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6F3C43-74F9-4135-BCC2-7AE0CC8172F9}">
      <dsp:nvSpPr>
        <dsp:cNvPr id="0" name=""/>
        <dsp:cNvSpPr/>
      </dsp:nvSpPr>
      <dsp:spPr>
        <a:xfrm>
          <a:off x="0" y="0"/>
          <a:ext cx="4842888" cy="92644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Motivação</a:t>
          </a:r>
        </a:p>
      </dsp:txBody>
      <dsp:txXfrm>
        <a:off x="27135" y="27135"/>
        <a:ext cx="3734786" cy="872175"/>
      </dsp:txXfrm>
    </dsp:sp>
    <dsp:sp modelId="{D5B88B05-8A40-4482-837A-335588443DBA}">
      <dsp:nvSpPr>
        <dsp:cNvPr id="0" name=""/>
        <dsp:cNvSpPr/>
      </dsp:nvSpPr>
      <dsp:spPr>
        <a:xfrm>
          <a:off x="361644" y="1055119"/>
          <a:ext cx="4842888" cy="926445"/>
        </a:xfrm>
        <a:prstGeom prst="roundRect">
          <a:avLst>
            <a:gd name="adj" fmla="val 10000"/>
          </a:avLst>
        </a:prstGeom>
        <a:solidFill>
          <a:schemeClr val="accent2">
            <a:hueOff val="-4721380"/>
            <a:satOff val="9088"/>
            <a:lumOff val="-627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Trabalhos Relacionados</a:t>
          </a:r>
        </a:p>
      </dsp:txBody>
      <dsp:txXfrm>
        <a:off x="388779" y="1082254"/>
        <a:ext cx="3824784" cy="872175"/>
      </dsp:txXfrm>
    </dsp:sp>
    <dsp:sp modelId="{A1096DA3-C669-4E60-8076-8325656232D3}">
      <dsp:nvSpPr>
        <dsp:cNvPr id="0" name=""/>
        <dsp:cNvSpPr/>
      </dsp:nvSpPr>
      <dsp:spPr>
        <a:xfrm>
          <a:off x="723288" y="2110238"/>
          <a:ext cx="4842888" cy="926445"/>
        </a:xfrm>
        <a:prstGeom prst="roundRect">
          <a:avLst>
            <a:gd name="adj" fmla="val 10000"/>
          </a:avLst>
        </a:prstGeom>
        <a:solidFill>
          <a:schemeClr val="accent2">
            <a:hueOff val="-9442759"/>
            <a:satOff val="18175"/>
            <a:lumOff val="-1254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Solução Proposta</a:t>
          </a:r>
        </a:p>
      </dsp:txBody>
      <dsp:txXfrm>
        <a:off x="750423" y="2137373"/>
        <a:ext cx="3824784" cy="872175"/>
      </dsp:txXfrm>
    </dsp:sp>
    <dsp:sp modelId="{90076FAC-E0D1-4E49-8904-24FF6B8D9EC0}">
      <dsp:nvSpPr>
        <dsp:cNvPr id="0" name=""/>
        <dsp:cNvSpPr/>
      </dsp:nvSpPr>
      <dsp:spPr>
        <a:xfrm>
          <a:off x="1084932" y="3165357"/>
          <a:ext cx="4842888" cy="926445"/>
        </a:xfrm>
        <a:prstGeom prst="roundRect">
          <a:avLst>
            <a:gd name="adj" fmla="val 10000"/>
          </a:avLst>
        </a:prstGeom>
        <a:solidFill>
          <a:schemeClr val="accent2">
            <a:hueOff val="-14164138"/>
            <a:satOff val="27263"/>
            <a:lumOff val="-188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Resultados</a:t>
          </a:r>
        </a:p>
      </dsp:txBody>
      <dsp:txXfrm>
        <a:off x="1112067" y="3192492"/>
        <a:ext cx="3824784" cy="872175"/>
      </dsp:txXfrm>
    </dsp:sp>
    <dsp:sp modelId="{D113CBF1-E892-4197-96A5-A791F5C81DF9}">
      <dsp:nvSpPr>
        <dsp:cNvPr id="0" name=""/>
        <dsp:cNvSpPr/>
      </dsp:nvSpPr>
      <dsp:spPr>
        <a:xfrm>
          <a:off x="1446577" y="4220476"/>
          <a:ext cx="4842888" cy="926445"/>
        </a:xfrm>
        <a:prstGeom prst="roundRect">
          <a:avLst>
            <a:gd name="adj" fmla="val 10000"/>
          </a:avLst>
        </a:prstGeom>
        <a:solidFill>
          <a:schemeClr val="accent2">
            <a:hueOff val="-18885518"/>
            <a:satOff val="36351"/>
            <a:lumOff val="-2509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Conclusão</a:t>
          </a:r>
        </a:p>
      </dsp:txBody>
      <dsp:txXfrm>
        <a:off x="1473712" y="4247611"/>
        <a:ext cx="3824784" cy="872175"/>
      </dsp:txXfrm>
    </dsp:sp>
    <dsp:sp modelId="{29CFB33B-F955-4B0E-A250-3406CD3BB667}">
      <dsp:nvSpPr>
        <dsp:cNvPr id="0" name=""/>
        <dsp:cNvSpPr/>
      </dsp:nvSpPr>
      <dsp:spPr>
        <a:xfrm>
          <a:off x="4240698" y="676820"/>
          <a:ext cx="602189" cy="602189"/>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4376191" y="676820"/>
        <a:ext cx="331203" cy="453147"/>
      </dsp:txXfrm>
    </dsp:sp>
    <dsp:sp modelId="{2390490B-1580-41F4-9B4B-C1C4AFB9255C}">
      <dsp:nvSpPr>
        <dsp:cNvPr id="0" name=""/>
        <dsp:cNvSpPr/>
      </dsp:nvSpPr>
      <dsp:spPr>
        <a:xfrm>
          <a:off x="4602343" y="1731939"/>
          <a:ext cx="602189" cy="602189"/>
        </a:xfrm>
        <a:prstGeom prst="downArrow">
          <a:avLst>
            <a:gd name="adj1" fmla="val 55000"/>
            <a:gd name="adj2" fmla="val 45000"/>
          </a:avLst>
        </a:prstGeom>
        <a:solidFill>
          <a:schemeClr val="accent2">
            <a:tint val="40000"/>
            <a:alpha val="90000"/>
            <a:hueOff val="-6477394"/>
            <a:satOff val="3219"/>
            <a:lumOff val="-1506"/>
            <a:alphaOff val="0"/>
          </a:schemeClr>
        </a:solidFill>
        <a:ln w="12700" cap="flat" cmpd="sng" algn="ctr">
          <a:solidFill>
            <a:schemeClr val="accent2">
              <a:tint val="40000"/>
              <a:alpha val="90000"/>
              <a:hueOff val="-6477394"/>
              <a:satOff val="3219"/>
              <a:lumOff val="-15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4737836" y="1731939"/>
        <a:ext cx="331203" cy="453147"/>
      </dsp:txXfrm>
    </dsp:sp>
    <dsp:sp modelId="{6EB055D5-8F6B-4981-A567-331B07D87302}">
      <dsp:nvSpPr>
        <dsp:cNvPr id="0" name=""/>
        <dsp:cNvSpPr/>
      </dsp:nvSpPr>
      <dsp:spPr>
        <a:xfrm>
          <a:off x="4963987" y="2771617"/>
          <a:ext cx="602189" cy="602189"/>
        </a:xfrm>
        <a:prstGeom prst="downArrow">
          <a:avLst>
            <a:gd name="adj1" fmla="val 55000"/>
            <a:gd name="adj2" fmla="val 45000"/>
          </a:avLst>
        </a:prstGeom>
        <a:solidFill>
          <a:schemeClr val="accent2">
            <a:tint val="40000"/>
            <a:alpha val="90000"/>
            <a:hueOff val="-12954789"/>
            <a:satOff val="6437"/>
            <a:lumOff val="-3013"/>
            <a:alphaOff val="0"/>
          </a:schemeClr>
        </a:solidFill>
        <a:ln w="12700" cap="flat" cmpd="sng" algn="ctr">
          <a:solidFill>
            <a:schemeClr val="accent2">
              <a:tint val="40000"/>
              <a:alpha val="90000"/>
              <a:hueOff val="-12954789"/>
              <a:satOff val="6437"/>
              <a:lumOff val="-30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5099480" y="2771617"/>
        <a:ext cx="331203" cy="453147"/>
      </dsp:txXfrm>
    </dsp:sp>
    <dsp:sp modelId="{22D8CCD7-691E-4DFB-A39D-AF447D0A0ED1}">
      <dsp:nvSpPr>
        <dsp:cNvPr id="0" name=""/>
        <dsp:cNvSpPr/>
      </dsp:nvSpPr>
      <dsp:spPr>
        <a:xfrm>
          <a:off x="5325631" y="3837030"/>
          <a:ext cx="602189" cy="602189"/>
        </a:xfrm>
        <a:prstGeom prst="downArrow">
          <a:avLst>
            <a:gd name="adj1" fmla="val 55000"/>
            <a:gd name="adj2" fmla="val 45000"/>
          </a:avLst>
        </a:prstGeom>
        <a:solidFill>
          <a:schemeClr val="accent2">
            <a:tint val="40000"/>
            <a:alpha val="90000"/>
            <a:hueOff val="-19432183"/>
            <a:satOff val="9656"/>
            <a:lumOff val="-4519"/>
            <a:alphaOff val="0"/>
          </a:schemeClr>
        </a:solidFill>
        <a:ln w="12700" cap="flat" cmpd="sng" algn="ctr">
          <a:solidFill>
            <a:schemeClr val="accent2">
              <a:tint val="40000"/>
              <a:alpha val="90000"/>
              <a:hueOff val="-19432183"/>
              <a:satOff val="9656"/>
              <a:lumOff val="-451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5461124" y="3837030"/>
        <a:ext cx="331203" cy="453147"/>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11/25/2025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B16356-3B28-4AAF-8099-7941810E2475}" type="datetimeFigureOut">
              <a:rPr lang="en-US" smtClean="0"/>
              <a:t>11/25/2025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DA344-5FA2-43F7-9D95-CA56C82B080A}" type="slidenum">
              <a:rPr lang="en-US" smtClean="0"/>
              <a:t>‹#›</a:t>
            </a:fld>
            <a:endParaRPr lang="en-US"/>
          </a:p>
        </p:txBody>
      </p:sp>
    </p:spTree>
    <p:extLst>
      <p:ext uri="{BB962C8B-B14F-4D97-AF65-F5344CB8AC3E}">
        <p14:creationId xmlns:p14="http://schemas.microsoft.com/office/powerpoint/2010/main" val="125576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a:t>
            </a:fld>
            <a:endParaRPr lang="en-US"/>
          </a:p>
        </p:txBody>
      </p:sp>
    </p:spTree>
    <p:extLst>
      <p:ext uri="{BB962C8B-B14F-4D97-AF65-F5344CB8AC3E}">
        <p14:creationId xmlns:p14="http://schemas.microsoft.com/office/powerpoint/2010/main" val="695444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2</a:t>
            </a:fld>
            <a:endParaRPr lang="en-US"/>
          </a:p>
        </p:txBody>
      </p:sp>
    </p:spTree>
    <p:extLst>
      <p:ext uri="{BB962C8B-B14F-4D97-AF65-F5344CB8AC3E}">
        <p14:creationId xmlns:p14="http://schemas.microsoft.com/office/powerpoint/2010/main" val="3727634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crescente complexidade dos ambientes veiculares, aliada à necessidade de comunicação confiável e de baixa latência, motiva a busca por soluções mais inteligentes e adaptativas para o roteamento em </a:t>
            </a:r>
            <a:r>
              <a:rPr lang="pt-BR" i="1" dirty="0" err="1"/>
              <a:t>Vehicular</a:t>
            </a:r>
            <a:r>
              <a:rPr lang="pt-BR" i="1" dirty="0"/>
              <a:t> Ad Hoc Networks</a:t>
            </a:r>
            <a:r>
              <a:rPr lang="pt-BR" dirty="0"/>
              <a:t> (VANET). Os protocolos tradicionais, baseados em regras determinísticas, mostram-se insuficientes para lidar com a natureza altamente dinâmica dessas redes, resultando em rotas instáveis e perda de desempenho em cenários reais. Nesse contexto, técnicas de aprendizado por reforço, especialmente as abordagens baseadas em aprendizado profundo (RL), surgem como alternativas promissoras por sua capacidade de aprendizado contínuo e adaptação às variações topológicas do ambiente. </a:t>
            </a:r>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3</a:t>
            </a:fld>
            <a:endParaRPr lang="en-US"/>
          </a:p>
        </p:txBody>
      </p:sp>
    </p:spTree>
    <p:extLst>
      <p:ext uri="{BB962C8B-B14F-4D97-AF65-F5344CB8AC3E}">
        <p14:creationId xmlns:p14="http://schemas.microsoft.com/office/powerpoint/2010/main" val="3988440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21875-0E1F-EF12-3632-46C11B8420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3CEC0D-6482-0649-1450-892D6BD39D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38E170-CCC3-8301-DE4E-C410C5BCF899}"/>
              </a:ext>
            </a:extLst>
          </p:cNvPr>
          <p:cNvSpPr>
            <a:spLocks noGrp="1"/>
          </p:cNvSpPr>
          <p:nvPr>
            <p:ph type="body" idx="1"/>
          </p:nvPr>
        </p:nvSpPr>
        <p:spPr/>
        <p:txBody>
          <a:bodyPr/>
          <a:lstStyle/>
          <a:p>
            <a:r>
              <a:rPr lang="pt-BR" dirty="0"/>
              <a:t>Entretanto, grande parte dos estudos existentes utiliza simulações complexas, de difícil reprodução e com alto custo computacional, o que limita a compreensão do processo de aprendizado do agente. Assim, este trabalho busca preencher essa lacuna ao propor um ambiente simplificado e controlado, que permite investigar de forma transparente como um agente DQN pode aprender estratégias de roteamento dinâmico em uma VANET, contribuindo para o avanço do entendimento e desenvolvimento de soluções mais eficientes para redes veiculares inteligentes.</a:t>
            </a:r>
            <a:endParaRPr lang="en-US" dirty="0"/>
          </a:p>
        </p:txBody>
      </p:sp>
      <p:sp>
        <p:nvSpPr>
          <p:cNvPr id="4" name="Slide Number Placeholder 3">
            <a:extLst>
              <a:ext uri="{FF2B5EF4-FFF2-40B4-BE49-F238E27FC236}">
                <a16:creationId xmlns:a16="http://schemas.microsoft.com/office/drawing/2014/main" id="{BEC67CD2-B2B9-B044-E4A6-F1F271396961}"/>
              </a:ext>
            </a:extLst>
          </p:cNvPr>
          <p:cNvSpPr>
            <a:spLocks noGrp="1"/>
          </p:cNvSpPr>
          <p:nvPr>
            <p:ph type="sldNum" sz="quarter" idx="5"/>
          </p:nvPr>
        </p:nvSpPr>
        <p:spPr/>
        <p:txBody>
          <a:bodyPr/>
          <a:lstStyle/>
          <a:p>
            <a:fld id="{CC5DA344-5FA2-43F7-9D95-CA56C82B080A}" type="slidenum">
              <a:rPr lang="en-US" smtClean="0"/>
              <a:t>4</a:t>
            </a:fld>
            <a:endParaRPr lang="en-US"/>
          </a:p>
        </p:txBody>
      </p:sp>
    </p:spTree>
    <p:extLst>
      <p:ext uri="{BB962C8B-B14F-4D97-AF65-F5344CB8AC3E}">
        <p14:creationId xmlns:p14="http://schemas.microsoft.com/office/powerpoint/2010/main" val="659442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Tabela resume os principais trabalhos que aplicam </a:t>
            </a:r>
            <a:r>
              <a:rPr lang="pt-BR" b="1" dirty="0" err="1"/>
              <a:t>Deep</a:t>
            </a:r>
            <a:r>
              <a:rPr lang="pt-BR" b="1" dirty="0"/>
              <a:t> </a:t>
            </a:r>
            <a:r>
              <a:rPr lang="pt-BR" b="1" dirty="0" err="1"/>
              <a:t>Reinforcement</a:t>
            </a:r>
            <a:r>
              <a:rPr lang="pt-BR" b="1" dirty="0"/>
              <a:t> Learning (DRL)</a:t>
            </a:r>
            <a:r>
              <a:rPr lang="pt-BR" dirty="0"/>
              <a:t> ao roteamento em VANET. Observa-se que diferentes variantes do </a:t>
            </a:r>
            <a:r>
              <a:rPr lang="pt-BR" b="1" dirty="0"/>
              <a:t>DQN</a:t>
            </a:r>
            <a:r>
              <a:rPr lang="pt-BR" dirty="0"/>
              <a:t>, como o </a:t>
            </a:r>
            <a:r>
              <a:rPr lang="pt-BR" b="1" dirty="0"/>
              <a:t>Double DQN</a:t>
            </a:r>
            <a:r>
              <a:rPr lang="pt-BR" dirty="0"/>
              <a:t> e o </a:t>
            </a:r>
            <a:r>
              <a:rPr lang="pt-BR" b="1" dirty="0" err="1"/>
              <a:t>Dueling</a:t>
            </a:r>
            <a:r>
              <a:rPr lang="pt-BR" b="1" dirty="0"/>
              <a:t> DQN</a:t>
            </a:r>
            <a:r>
              <a:rPr lang="pt-BR" dirty="0"/>
              <a:t>, têm sido empregadas para melhorar a estabilidade do treinamento e a precisão das decisões de roteamento. A maioria desses estudos utiliza </a:t>
            </a:r>
            <a:r>
              <a:rPr lang="pt-BR" b="1" dirty="0"/>
              <a:t>simulações complexas</a:t>
            </a:r>
            <a:r>
              <a:rPr lang="pt-BR" dirty="0"/>
              <a:t>, como NS-3, SUMO ou modelos híbridos, que aumentam o realismo, mas dificultam a </a:t>
            </a:r>
            <a:r>
              <a:rPr lang="pt-BR" b="1" dirty="0"/>
              <a:t>interpretação e reprodutibilidade</a:t>
            </a:r>
            <a:r>
              <a:rPr lang="pt-BR" dirty="0"/>
              <a:t> dos resultados. Em contraste, este trabalho propõe um </a:t>
            </a:r>
            <a:r>
              <a:rPr lang="pt-BR" b="1" dirty="0"/>
              <a:t>ambiente simplificado e controlado</a:t>
            </a:r>
            <a:r>
              <a:rPr lang="pt-BR" dirty="0"/>
              <a:t>, que permite analisar de forma transparente o processo de aprendizado de um agente DQN ao identificar rotas ótimas em redes veiculares dinâmicas, conciliando </a:t>
            </a:r>
            <a:r>
              <a:rPr lang="pt-BR" b="1" dirty="0"/>
              <a:t>desempenho e </a:t>
            </a:r>
            <a:r>
              <a:rPr lang="pt-BR" b="1" dirty="0" err="1"/>
              <a:t>interpretabilidade</a:t>
            </a:r>
            <a:r>
              <a:rPr lang="pt-BR" dirty="0"/>
              <a:t>.</a:t>
            </a:r>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5</a:t>
            </a:fld>
            <a:endParaRPr lang="en-US"/>
          </a:p>
        </p:txBody>
      </p:sp>
    </p:spTree>
    <p:extLst>
      <p:ext uri="{BB962C8B-B14F-4D97-AF65-F5344CB8AC3E}">
        <p14:creationId xmlns:p14="http://schemas.microsoft.com/office/powerpoint/2010/main" val="1495799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Essas</a:t>
            </a:r>
            <a:r>
              <a:rPr lang="en-US" dirty="0"/>
              <a:t> </a:t>
            </a:r>
            <a:r>
              <a:rPr lang="en-US" dirty="0" err="1"/>
              <a:t>equações</a:t>
            </a:r>
            <a:r>
              <a:rPr lang="en-US" dirty="0"/>
              <a:t> </a:t>
            </a:r>
            <a:r>
              <a:rPr lang="en-US" dirty="0" err="1"/>
              <a:t>representam</a:t>
            </a:r>
            <a:r>
              <a:rPr lang="en-US" dirty="0"/>
              <a:t> o </a:t>
            </a:r>
            <a:r>
              <a:rPr lang="en-US" dirty="0" err="1"/>
              <a:t>funcionamento</a:t>
            </a:r>
            <a:r>
              <a:rPr lang="en-US" dirty="0"/>
              <a:t> central do </a:t>
            </a:r>
            <a:r>
              <a:rPr lang="en-US" b="1" dirty="0"/>
              <a:t>DQN</a:t>
            </a:r>
            <a:r>
              <a:rPr lang="en-US" dirty="0"/>
              <a:t>. A </a:t>
            </a:r>
            <a:r>
              <a:rPr lang="en-US" dirty="0" err="1"/>
              <a:t>primeira</a:t>
            </a:r>
            <a:r>
              <a:rPr lang="en-US" dirty="0"/>
              <a:t> define a </a:t>
            </a:r>
            <a:r>
              <a:rPr lang="en-US" b="1" dirty="0" err="1"/>
              <a:t>função</a:t>
            </a:r>
            <a:r>
              <a:rPr lang="en-US" b="1" dirty="0"/>
              <a:t> de valor-</a:t>
            </a:r>
            <a:r>
              <a:rPr lang="en-US" b="1" dirty="0" err="1"/>
              <a:t>ação</a:t>
            </a:r>
            <a:r>
              <a:rPr lang="en-US" b="1" dirty="0"/>
              <a:t> </a:t>
            </a:r>
            <a:r>
              <a:rPr lang="en-US" b="1" dirty="0" err="1"/>
              <a:t>ótima</a:t>
            </a:r>
            <a:r>
              <a:rPr lang="en-US" dirty="0"/>
              <a:t>, Q∗(</a:t>
            </a:r>
            <a:r>
              <a:rPr lang="en-US" dirty="0" err="1"/>
              <a:t>s,a</a:t>
            </a:r>
            <a:r>
              <a:rPr lang="en-US" dirty="0"/>
              <a:t>), </a:t>
            </a:r>
            <a:r>
              <a:rPr lang="en-US" dirty="0" err="1"/>
              <a:t>que</a:t>
            </a:r>
            <a:r>
              <a:rPr lang="en-US" dirty="0"/>
              <a:t> </a:t>
            </a:r>
            <a:r>
              <a:rPr lang="en-US" dirty="0" err="1"/>
              <a:t>estima</a:t>
            </a:r>
            <a:r>
              <a:rPr lang="en-US" dirty="0"/>
              <a:t> o </a:t>
            </a:r>
            <a:r>
              <a:rPr lang="en-US" dirty="0" err="1"/>
              <a:t>retorno</a:t>
            </a:r>
            <a:r>
              <a:rPr lang="en-US" dirty="0"/>
              <a:t> </a:t>
            </a:r>
            <a:r>
              <a:rPr lang="en-US" dirty="0" err="1"/>
              <a:t>esperado</a:t>
            </a:r>
            <a:r>
              <a:rPr lang="en-US" dirty="0"/>
              <a:t> </a:t>
            </a:r>
            <a:r>
              <a:rPr lang="en-US" dirty="0" err="1"/>
              <a:t>ao</a:t>
            </a:r>
            <a:r>
              <a:rPr lang="en-US" dirty="0"/>
              <a:t> </a:t>
            </a:r>
            <a:r>
              <a:rPr lang="en-US" dirty="0" err="1"/>
              <a:t>executar</a:t>
            </a:r>
            <a:r>
              <a:rPr lang="en-US" dirty="0"/>
              <a:t> </a:t>
            </a:r>
            <a:r>
              <a:rPr lang="en-US" dirty="0" err="1"/>
              <a:t>uma</a:t>
            </a:r>
            <a:r>
              <a:rPr lang="en-US" dirty="0"/>
              <a:t> </a:t>
            </a:r>
            <a:r>
              <a:rPr lang="en-US" dirty="0" err="1"/>
              <a:t>ação</a:t>
            </a:r>
            <a:r>
              <a:rPr lang="en-US" dirty="0"/>
              <a:t> a </a:t>
            </a:r>
            <a:r>
              <a:rPr lang="en-US" dirty="0" err="1"/>
              <a:t>em</a:t>
            </a:r>
            <a:r>
              <a:rPr lang="en-US" dirty="0"/>
              <a:t> um </a:t>
            </a:r>
            <a:r>
              <a:rPr lang="en-US" dirty="0" err="1"/>
              <a:t>estado</a:t>
            </a:r>
            <a:r>
              <a:rPr lang="en-US" dirty="0"/>
              <a:t> </a:t>
            </a:r>
            <a:r>
              <a:rPr lang="en-US" dirty="0" err="1"/>
              <a:t>sss</a:t>
            </a:r>
            <a:r>
              <a:rPr lang="en-US" dirty="0"/>
              <a:t> e </a:t>
            </a:r>
            <a:r>
              <a:rPr lang="en-US" dirty="0" err="1"/>
              <a:t>seguir</a:t>
            </a:r>
            <a:r>
              <a:rPr lang="en-US" dirty="0"/>
              <a:t> a </a:t>
            </a:r>
            <a:r>
              <a:rPr lang="en-US" dirty="0" err="1"/>
              <a:t>melhor</a:t>
            </a:r>
            <a:r>
              <a:rPr lang="en-US" dirty="0"/>
              <a:t> </a:t>
            </a:r>
            <a:r>
              <a:rPr lang="en-US" dirty="0" err="1"/>
              <a:t>política</a:t>
            </a:r>
            <a:r>
              <a:rPr lang="en-US" dirty="0"/>
              <a:t> </a:t>
            </a:r>
            <a:r>
              <a:rPr lang="en-US" dirty="0" err="1"/>
              <a:t>possível</a:t>
            </a:r>
            <a:r>
              <a:rPr lang="en-US" dirty="0"/>
              <a:t>. O </a:t>
            </a:r>
            <a:r>
              <a:rPr lang="en-US" dirty="0" err="1"/>
              <a:t>termo</a:t>
            </a:r>
            <a:r>
              <a:rPr lang="en-US" dirty="0"/>
              <a:t> rt  é a </a:t>
            </a:r>
            <a:r>
              <a:rPr lang="en-US" dirty="0" err="1"/>
              <a:t>recompensa</a:t>
            </a:r>
            <a:r>
              <a:rPr lang="en-US" dirty="0"/>
              <a:t> </a:t>
            </a:r>
            <a:r>
              <a:rPr lang="en-US" dirty="0" err="1"/>
              <a:t>imediata</a:t>
            </a:r>
            <a:r>
              <a:rPr lang="en-US" dirty="0"/>
              <a:t> e γ é o </a:t>
            </a:r>
            <a:r>
              <a:rPr lang="en-US" b="1" dirty="0" err="1"/>
              <a:t>fator</a:t>
            </a:r>
            <a:r>
              <a:rPr lang="en-US" b="1" dirty="0"/>
              <a:t> de </a:t>
            </a:r>
            <a:r>
              <a:rPr lang="en-US" b="1" dirty="0" err="1"/>
              <a:t>desconto</a:t>
            </a:r>
            <a:r>
              <a:rPr lang="en-US" dirty="0"/>
              <a:t>, </a:t>
            </a:r>
            <a:r>
              <a:rPr lang="en-US" dirty="0" err="1"/>
              <a:t>que</a:t>
            </a:r>
            <a:r>
              <a:rPr lang="en-US" dirty="0"/>
              <a:t> </a:t>
            </a:r>
            <a:r>
              <a:rPr lang="en-US" dirty="0" err="1"/>
              <a:t>pondera</a:t>
            </a:r>
            <a:r>
              <a:rPr lang="en-US" dirty="0"/>
              <a:t> a </a:t>
            </a:r>
            <a:r>
              <a:rPr lang="en-US" dirty="0" err="1"/>
              <a:t>importância</a:t>
            </a:r>
            <a:r>
              <a:rPr lang="en-US" dirty="0"/>
              <a:t> das </a:t>
            </a:r>
            <a:r>
              <a:rPr lang="en-US" dirty="0" err="1"/>
              <a:t>recompensas</a:t>
            </a:r>
            <a:r>
              <a:rPr lang="en-US" dirty="0"/>
              <a:t> </a:t>
            </a:r>
            <a:r>
              <a:rPr lang="en-US" dirty="0" err="1"/>
              <a:t>futuras</a:t>
            </a:r>
            <a:r>
              <a:rPr lang="en-US" dirty="0"/>
              <a:t>. </a:t>
            </a:r>
            <a:r>
              <a:rPr lang="en-US" dirty="0" err="1"/>
              <a:t>Já</a:t>
            </a:r>
            <a:r>
              <a:rPr lang="en-US" dirty="0"/>
              <a:t> a </a:t>
            </a:r>
            <a:r>
              <a:rPr lang="en-US" dirty="0" err="1"/>
              <a:t>segunda</a:t>
            </a:r>
            <a:r>
              <a:rPr lang="en-US" dirty="0"/>
              <a:t> </a:t>
            </a:r>
            <a:r>
              <a:rPr lang="en-US" dirty="0" err="1"/>
              <a:t>equação</a:t>
            </a:r>
            <a:r>
              <a:rPr lang="en-US" dirty="0"/>
              <a:t> </a:t>
            </a:r>
            <a:r>
              <a:rPr lang="en-US" dirty="0" err="1"/>
              <a:t>descreve</a:t>
            </a:r>
            <a:r>
              <a:rPr lang="en-US" dirty="0"/>
              <a:t> a </a:t>
            </a:r>
            <a:r>
              <a:rPr lang="en-US" b="1" dirty="0" err="1"/>
              <a:t>função</a:t>
            </a:r>
            <a:r>
              <a:rPr lang="en-US" b="1" dirty="0"/>
              <a:t> de </a:t>
            </a:r>
            <a:r>
              <a:rPr lang="en-US" b="1" dirty="0" err="1"/>
              <a:t>perda</a:t>
            </a:r>
            <a:r>
              <a:rPr lang="en-US" dirty="0"/>
              <a:t>, L(θ), </a:t>
            </a:r>
            <a:r>
              <a:rPr lang="en-US" dirty="0" err="1"/>
              <a:t>usada</a:t>
            </a:r>
            <a:r>
              <a:rPr lang="en-US" dirty="0"/>
              <a:t> para </a:t>
            </a:r>
            <a:r>
              <a:rPr lang="en-US" dirty="0" err="1"/>
              <a:t>ajustar</a:t>
            </a:r>
            <a:r>
              <a:rPr lang="en-US" dirty="0"/>
              <a:t> </a:t>
            </a:r>
            <a:r>
              <a:rPr lang="en-US" dirty="0" err="1"/>
              <a:t>os</a:t>
            </a:r>
            <a:r>
              <a:rPr lang="en-US" dirty="0"/>
              <a:t> pesos da rede neural. Ela </a:t>
            </a:r>
            <a:r>
              <a:rPr lang="en-US" dirty="0" err="1"/>
              <a:t>minimiza</a:t>
            </a:r>
            <a:r>
              <a:rPr lang="en-US" dirty="0"/>
              <a:t> a </a:t>
            </a:r>
            <a:r>
              <a:rPr lang="en-US" dirty="0" err="1"/>
              <a:t>diferença</a:t>
            </a:r>
            <a:r>
              <a:rPr lang="en-US" dirty="0"/>
              <a:t> </a:t>
            </a:r>
            <a:r>
              <a:rPr lang="en-US" dirty="0" err="1"/>
              <a:t>quadrática</a:t>
            </a:r>
            <a:r>
              <a:rPr lang="en-US" dirty="0"/>
              <a:t> entre o </a:t>
            </a:r>
            <a:r>
              <a:rPr lang="en-US" b="1" dirty="0"/>
              <a:t>valor </a:t>
            </a:r>
            <a:r>
              <a:rPr lang="en-US" b="1" dirty="0" err="1"/>
              <a:t>alvo</a:t>
            </a:r>
            <a:r>
              <a:rPr lang="en-US" dirty="0"/>
              <a:t> </a:t>
            </a:r>
            <a:r>
              <a:rPr lang="en-US" dirty="0" err="1"/>
              <a:t>yt</a:t>
            </a:r>
            <a:r>
              <a:rPr lang="en-US" dirty="0"/>
              <a:t>  — </a:t>
            </a:r>
            <a:r>
              <a:rPr lang="en-US" dirty="0" err="1"/>
              <a:t>calculado</a:t>
            </a:r>
            <a:r>
              <a:rPr lang="en-US" dirty="0"/>
              <a:t> a </a:t>
            </a:r>
            <a:r>
              <a:rPr lang="en-US" dirty="0" err="1"/>
              <a:t>partir</a:t>
            </a:r>
            <a:r>
              <a:rPr lang="en-US" dirty="0"/>
              <a:t> da </a:t>
            </a:r>
            <a:r>
              <a:rPr lang="en-US" dirty="0" err="1"/>
              <a:t>recompensa</a:t>
            </a:r>
            <a:r>
              <a:rPr lang="en-US" dirty="0"/>
              <a:t> e do valor </a:t>
            </a:r>
            <a:r>
              <a:rPr lang="en-US" dirty="0" err="1"/>
              <a:t>máximo</a:t>
            </a:r>
            <a:r>
              <a:rPr lang="en-US" dirty="0"/>
              <a:t> </a:t>
            </a:r>
            <a:r>
              <a:rPr lang="en-US" dirty="0" err="1"/>
              <a:t>estimado</a:t>
            </a:r>
            <a:r>
              <a:rPr lang="en-US" dirty="0"/>
              <a:t> do </a:t>
            </a:r>
            <a:r>
              <a:rPr lang="en-US" dirty="0" err="1"/>
              <a:t>próximo</a:t>
            </a:r>
            <a:r>
              <a:rPr lang="en-US" dirty="0"/>
              <a:t> </a:t>
            </a:r>
            <a:r>
              <a:rPr lang="en-US" dirty="0" err="1"/>
              <a:t>estado</a:t>
            </a:r>
            <a:r>
              <a:rPr lang="en-US" dirty="0"/>
              <a:t> — e o </a:t>
            </a:r>
            <a:r>
              <a:rPr lang="en-US" b="1" dirty="0"/>
              <a:t>valor </a:t>
            </a:r>
            <a:r>
              <a:rPr lang="en-US" b="1" dirty="0" err="1"/>
              <a:t>previsto</a:t>
            </a:r>
            <a:r>
              <a:rPr lang="en-US" dirty="0"/>
              <a:t> pela rede </a:t>
            </a:r>
            <a:r>
              <a:rPr lang="en-US" dirty="0" err="1"/>
              <a:t>atual</a:t>
            </a:r>
            <a:r>
              <a:rPr lang="en-US" dirty="0"/>
              <a:t>. Esse </a:t>
            </a:r>
            <a:r>
              <a:rPr lang="en-US" dirty="0" err="1"/>
              <a:t>processo</a:t>
            </a:r>
            <a:r>
              <a:rPr lang="en-US" dirty="0"/>
              <a:t> de </a:t>
            </a:r>
            <a:r>
              <a:rPr lang="en-US" dirty="0" err="1"/>
              <a:t>atualização</a:t>
            </a:r>
            <a:r>
              <a:rPr lang="en-US" dirty="0"/>
              <a:t> </a:t>
            </a:r>
            <a:r>
              <a:rPr lang="en-US" dirty="0" err="1"/>
              <a:t>por</a:t>
            </a:r>
            <a:r>
              <a:rPr lang="en-US" dirty="0"/>
              <a:t> </a:t>
            </a:r>
            <a:r>
              <a:rPr lang="en-US" dirty="0" err="1"/>
              <a:t>gradiente</a:t>
            </a:r>
            <a:r>
              <a:rPr lang="en-US" dirty="0"/>
              <a:t> </a:t>
            </a:r>
            <a:r>
              <a:rPr lang="en-US" dirty="0" err="1"/>
              <a:t>permite</a:t>
            </a:r>
            <a:r>
              <a:rPr lang="en-US" dirty="0"/>
              <a:t> </a:t>
            </a:r>
            <a:r>
              <a:rPr lang="en-US" dirty="0" err="1"/>
              <a:t>que</a:t>
            </a:r>
            <a:r>
              <a:rPr lang="en-US" dirty="0"/>
              <a:t> o </a:t>
            </a:r>
            <a:r>
              <a:rPr lang="en-US" dirty="0" err="1"/>
              <a:t>agente</a:t>
            </a:r>
            <a:r>
              <a:rPr lang="en-US" dirty="0"/>
              <a:t> </a:t>
            </a:r>
            <a:r>
              <a:rPr lang="en-US" dirty="0" err="1"/>
              <a:t>aprenda</a:t>
            </a:r>
            <a:r>
              <a:rPr lang="en-US" dirty="0"/>
              <a:t> </a:t>
            </a:r>
            <a:r>
              <a:rPr lang="en-US" dirty="0" err="1"/>
              <a:t>gradualmente</a:t>
            </a:r>
            <a:r>
              <a:rPr lang="en-US" dirty="0"/>
              <a:t> as </a:t>
            </a:r>
            <a:r>
              <a:rPr lang="en-US" dirty="0" err="1"/>
              <a:t>melhores</a:t>
            </a:r>
            <a:r>
              <a:rPr lang="en-US" dirty="0"/>
              <a:t> </a:t>
            </a:r>
            <a:r>
              <a:rPr lang="en-US" dirty="0" err="1"/>
              <a:t>ações</a:t>
            </a:r>
            <a:r>
              <a:rPr lang="en-US" dirty="0"/>
              <a:t> para </a:t>
            </a:r>
            <a:r>
              <a:rPr lang="en-US" dirty="0" err="1"/>
              <a:t>cada</a:t>
            </a:r>
            <a:r>
              <a:rPr lang="en-US" dirty="0"/>
              <a:t> </a:t>
            </a:r>
            <a:r>
              <a:rPr lang="en-US" dirty="0" err="1"/>
              <a:t>situação</a:t>
            </a:r>
            <a:r>
              <a:rPr lang="en-US" dirty="0"/>
              <a:t> do </a:t>
            </a:r>
            <a:r>
              <a:rPr lang="en-US" dirty="0" err="1"/>
              <a:t>ambiente</a:t>
            </a:r>
            <a:r>
              <a:rPr lang="en-US" dirty="0"/>
              <a:t>.</a:t>
            </a:r>
          </a:p>
        </p:txBody>
      </p:sp>
      <p:sp>
        <p:nvSpPr>
          <p:cNvPr id="4" name="Slide Number Placeholder 3"/>
          <p:cNvSpPr>
            <a:spLocks noGrp="1"/>
          </p:cNvSpPr>
          <p:nvPr>
            <p:ph type="sldNum" sz="quarter" idx="5"/>
          </p:nvPr>
        </p:nvSpPr>
        <p:spPr/>
        <p:txBody>
          <a:bodyPr/>
          <a:lstStyle/>
          <a:p>
            <a:fld id="{CC5DA344-5FA2-43F7-9D95-CA56C82B080A}" type="slidenum">
              <a:rPr lang="en-US" smtClean="0"/>
              <a:t>6</a:t>
            </a:fld>
            <a:endParaRPr lang="en-US"/>
          </a:p>
        </p:txBody>
      </p:sp>
    </p:spTree>
    <p:extLst>
      <p:ext uri="{BB962C8B-B14F-4D97-AF65-F5344CB8AC3E}">
        <p14:creationId xmlns:p14="http://schemas.microsoft.com/office/powerpoint/2010/main" val="1588769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AE6D6-D7DA-D750-CBDF-75B0584872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EDEEA9-DA81-7A66-FD32-9A8B2AD8D8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EEAEDA-A131-67C8-6DAF-DD026FA398B2}"/>
              </a:ext>
            </a:extLst>
          </p:cNvPr>
          <p:cNvSpPr>
            <a:spLocks noGrp="1"/>
          </p:cNvSpPr>
          <p:nvPr>
            <p:ph type="body" idx="1"/>
          </p:nvPr>
        </p:nvSpPr>
        <p:spPr/>
        <p:txBody>
          <a:bodyPr/>
          <a:lstStyle/>
          <a:p>
            <a:r>
              <a:rPr lang="pt-BR" dirty="0"/>
              <a:t>A rede neural do agente DQN é responsável por aproximar a função de valor de ação Q(</a:t>
            </a:r>
            <a:r>
              <a:rPr lang="pt-BR" dirty="0" err="1"/>
              <a:t>s,a;θ</a:t>
            </a:r>
            <a:r>
              <a:rPr lang="pt-BR" dirty="0"/>
              <a:t>), que estima a recompensa esperada para cada ação em um determinado estado. Ela é composta por uma camada de entrada que representa o estado atual do nó, duas camadas ocultas com 64 neurônios e ativação </a:t>
            </a:r>
            <a:r>
              <a:rPr lang="pt-BR" dirty="0" err="1"/>
              <a:t>ReLU</a:t>
            </a:r>
            <a:r>
              <a:rPr lang="pt-BR" dirty="0"/>
              <a:t>, e uma camada de saída que retorna os valores Q para todas as ações possíveis. O treinamento é realizado minimizando o erro quadrático médio entre as previsões e os valores-alvo, com o uso de uma </a:t>
            </a:r>
            <a:r>
              <a:rPr lang="pt-BR" i="1" dirty="0"/>
              <a:t>target network</a:t>
            </a:r>
            <a:r>
              <a:rPr lang="pt-BR" dirty="0"/>
              <a:t> para garantir estabilidade. Além disso, a memória de replay armazena experiências passadas, permitindo que o treinamento ocorra de forma mais estável e eficiente, reduzindo a correlação entre amostras consecutivas.</a:t>
            </a:r>
            <a:endParaRPr lang="en-US" dirty="0"/>
          </a:p>
        </p:txBody>
      </p:sp>
      <p:sp>
        <p:nvSpPr>
          <p:cNvPr id="4" name="Slide Number Placeholder 3">
            <a:extLst>
              <a:ext uri="{FF2B5EF4-FFF2-40B4-BE49-F238E27FC236}">
                <a16:creationId xmlns:a16="http://schemas.microsoft.com/office/drawing/2014/main" id="{50671D6A-A69D-7642-47B3-66A11CCD6E6C}"/>
              </a:ext>
            </a:extLst>
          </p:cNvPr>
          <p:cNvSpPr>
            <a:spLocks noGrp="1"/>
          </p:cNvSpPr>
          <p:nvPr>
            <p:ph type="sldNum" sz="quarter" idx="5"/>
          </p:nvPr>
        </p:nvSpPr>
        <p:spPr/>
        <p:txBody>
          <a:bodyPr/>
          <a:lstStyle/>
          <a:p>
            <a:fld id="{CC5DA344-5FA2-43F7-9D95-CA56C82B080A}" type="slidenum">
              <a:rPr lang="en-US" smtClean="0"/>
              <a:t>7</a:t>
            </a:fld>
            <a:endParaRPr lang="en-US"/>
          </a:p>
        </p:txBody>
      </p:sp>
    </p:spTree>
    <p:extLst>
      <p:ext uri="{BB962C8B-B14F-4D97-AF65-F5344CB8AC3E}">
        <p14:creationId xmlns:p14="http://schemas.microsoft.com/office/powerpoint/2010/main" val="16857201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4C26B-1CBD-CB8C-8F5F-9167632309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7F2B5E-646D-9C43-43FF-F6E32EC8D3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532913-8139-F0D0-4679-670AA4AC1B03}"/>
              </a:ext>
            </a:extLst>
          </p:cNvPr>
          <p:cNvSpPr>
            <a:spLocks noGrp="1"/>
          </p:cNvSpPr>
          <p:nvPr>
            <p:ph type="body" idx="1"/>
          </p:nvPr>
        </p:nvSpPr>
        <p:spPr/>
        <p:txBody>
          <a:bodyPr/>
          <a:lstStyle/>
          <a:p>
            <a:r>
              <a:rPr lang="en-US" dirty="0"/>
              <a:t>A </a:t>
            </a:r>
            <a:r>
              <a:rPr lang="en-US" dirty="0" err="1"/>
              <a:t>estratégia</a:t>
            </a:r>
            <a:r>
              <a:rPr lang="en-US" dirty="0"/>
              <a:t> $\epsilon$-greedy é </a:t>
            </a:r>
            <a:r>
              <a:rPr lang="en-US" dirty="0" err="1"/>
              <a:t>utilizada</a:t>
            </a:r>
            <a:r>
              <a:rPr lang="en-US" dirty="0"/>
              <a:t> para </a:t>
            </a:r>
            <a:r>
              <a:rPr lang="en-US" dirty="0" err="1"/>
              <a:t>equilibrar</a:t>
            </a:r>
            <a:r>
              <a:rPr lang="en-US" dirty="0"/>
              <a:t> a </a:t>
            </a:r>
            <a:r>
              <a:rPr lang="en-US" dirty="0" err="1"/>
              <a:t>exploração</a:t>
            </a:r>
            <a:r>
              <a:rPr lang="en-US" dirty="0"/>
              <a:t> de </a:t>
            </a:r>
            <a:r>
              <a:rPr lang="en-US" dirty="0" err="1"/>
              <a:t>novas</a:t>
            </a:r>
            <a:r>
              <a:rPr lang="en-US" dirty="0"/>
              <a:t> </a:t>
            </a:r>
            <a:r>
              <a:rPr lang="en-US" dirty="0" err="1"/>
              <a:t>ações</a:t>
            </a:r>
            <a:r>
              <a:rPr lang="en-US" dirty="0"/>
              <a:t> e a </a:t>
            </a:r>
            <a:r>
              <a:rPr lang="en-US" dirty="0" err="1"/>
              <a:t>exploração</a:t>
            </a:r>
            <a:r>
              <a:rPr lang="en-US" dirty="0"/>
              <a:t> do </a:t>
            </a:r>
            <a:r>
              <a:rPr lang="en-US" dirty="0" err="1"/>
              <a:t>conhecimento</a:t>
            </a:r>
            <a:r>
              <a:rPr lang="en-US" dirty="0"/>
              <a:t> </a:t>
            </a:r>
            <a:r>
              <a:rPr lang="en-US" dirty="0" err="1"/>
              <a:t>já</a:t>
            </a:r>
            <a:r>
              <a:rPr lang="en-US" dirty="0"/>
              <a:t> </a:t>
            </a:r>
            <a:r>
              <a:rPr lang="en-US" dirty="0" err="1"/>
              <a:t>adquirido</a:t>
            </a:r>
            <a:r>
              <a:rPr lang="en-US" dirty="0"/>
              <a:t> </a:t>
            </a:r>
            <a:r>
              <a:rPr lang="en-US" dirty="0" err="1"/>
              <a:t>pelo</a:t>
            </a:r>
            <a:r>
              <a:rPr lang="en-US" dirty="0"/>
              <a:t> </a:t>
            </a:r>
            <a:r>
              <a:rPr lang="en-US" dirty="0" err="1"/>
              <a:t>agente</a:t>
            </a:r>
            <a:r>
              <a:rPr lang="en-US" dirty="0"/>
              <a:t>. No </a:t>
            </a:r>
            <a:r>
              <a:rPr lang="en-US" dirty="0" err="1"/>
              <a:t>início</a:t>
            </a:r>
            <a:r>
              <a:rPr lang="en-US" dirty="0"/>
              <a:t> do </a:t>
            </a:r>
            <a:r>
              <a:rPr lang="en-US" dirty="0" err="1"/>
              <a:t>treinamento</a:t>
            </a:r>
            <a:r>
              <a:rPr lang="en-US" dirty="0"/>
              <a:t>, o valor de $\epsilon$ é alto, o </a:t>
            </a:r>
            <a:r>
              <a:rPr lang="en-US" dirty="0" err="1"/>
              <a:t>que</a:t>
            </a:r>
            <a:r>
              <a:rPr lang="en-US" dirty="0"/>
              <a:t> </a:t>
            </a:r>
            <a:r>
              <a:rPr lang="en-US" dirty="0" err="1"/>
              <a:t>faz</a:t>
            </a:r>
            <a:r>
              <a:rPr lang="en-US" dirty="0"/>
              <a:t> com </a:t>
            </a:r>
            <a:r>
              <a:rPr lang="en-US" dirty="0" err="1"/>
              <a:t>que</a:t>
            </a:r>
            <a:r>
              <a:rPr lang="en-US" dirty="0"/>
              <a:t> o </a:t>
            </a:r>
            <a:r>
              <a:rPr lang="en-US" dirty="0" err="1"/>
              <a:t>agente</a:t>
            </a:r>
            <a:r>
              <a:rPr lang="en-US" dirty="0"/>
              <a:t> </a:t>
            </a:r>
            <a:r>
              <a:rPr lang="en-US" dirty="0" err="1"/>
              <a:t>escolha</a:t>
            </a:r>
            <a:r>
              <a:rPr lang="en-US" dirty="0"/>
              <a:t> </a:t>
            </a:r>
            <a:r>
              <a:rPr lang="en-US" dirty="0" err="1"/>
              <a:t>ações</a:t>
            </a:r>
            <a:r>
              <a:rPr lang="en-US" dirty="0"/>
              <a:t> </a:t>
            </a:r>
            <a:r>
              <a:rPr lang="en-US" dirty="0" err="1"/>
              <a:t>aleatórias</a:t>
            </a:r>
            <a:r>
              <a:rPr lang="en-US" dirty="0"/>
              <a:t> com </a:t>
            </a:r>
            <a:r>
              <a:rPr lang="en-US" dirty="0" err="1"/>
              <a:t>maior</a:t>
            </a:r>
            <a:r>
              <a:rPr lang="en-US" dirty="0"/>
              <a:t> </a:t>
            </a:r>
            <a:r>
              <a:rPr lang="en-US" dirty="0" err="1"/>
              <a:t>frequência</a:t>
            </a:r>
            <a:r>
              <a:rPr lang="en-US" dirty="0"/>
              <a:t>, </a:t>
            </a:r>
            <a:r>
              <a:rPr lang="en-US" dirty="0" err="1"/>
              <a:t>explorando</a:t>
            </a:r>
            <a:r>
              <a:rPr lang="en-US" dirty="0"/>
              <a:t> </a:t>
            </a:r>
            <a:r>
              <a:rPr lang="en-US" dirty="0" err="1"/>
              <a:t>diferentes</a:t>
            </a:r>
            <a:r>
              <a:rPr lang="en-US" dirty="0"/>
              <a:t> </a:t>
            </a:r>
            <a:r>
              <a:rPr lang="en-US" dirty="0" err="1"/>
              <a:t>possibilidades</a:t>
            </a:r>
            <a:r>
              <a:rPr lang="en-US" dirty="0"/>
              <a:t> do </a:t>
            </a:r>
            <a:r>
              <a:rPr lang="en-US" dirty="0" err="1"/>
              <a:t>ambiente</a:t>
            </a:r>
            <a:r>
              <a:rPr lang="en-US" dirty="0"/>
              <a:t>. À </a:t>
            </a:r>
            <a:r>
              <a:rPr lang="en-US" dirty="0" err="1"/>
              <a:t>medida</a:t>
            </a:r>
            <a:r>
              <a:rPr lang="en-US" dirty="0"/>
              <a:t> </a:t>
            </a:r>
            <a:r>
              <a:rPr lang="en-US" dirty="0" err="1"/>
              <a:t>que</a:t>
            </a:r>
            <a:r>
              <a:rPr lang="en-US" dirty="0"/>
              <a:t> o </a:t>
            </a:r>
            <a:r>
              <a:rPr lang="en-US" dirty="0" err="1"/>
              <a:t>treinamento</a:t>
            </a:r>
            <a:r>
              <a:rPr lang="en-US" dirty="0"/>
              <a:t> </a:t>
            </a:r>
            <a:r>
              <a:rPr lang="en-US" dirty="0" err="1"/>
              <a:t>avança</a:t>
            </a:r>
            <a:r>
              <a:rPr lang="en-US" dirty="0"/>
              <a:t>, $\epsilon$ é </a:t>
            </a:r>
            <a:r>
              <a:rPr lang="en-US" dirty="0" err="1"/>
              <a:t>reduzido</a:t>
            </a:r>
            <a:r>
              <a:rPr lang="en-US" dirty="0"/>
              <a:t> </a:t>
            </a:r>
            <a:r>
              <a:rPr lang="en-US" dirty="0" err="1"/>
              <a:t>gradualmente</a:t>
            </a:r>
            <a:r>
              <a:rPr lang="en-US" dirty="0"/>
              <a:t>, </a:t>
            </a:r>
            <a:r>
              <a:rPr lang="en-US" dirty="0" err="1"/>
              <a:t>permitindo</a:t>
            </a:r>
            <a:r>
              <a:rPr lang="en-US" dirty="0"/>
              <a:t> </a:t>
            </a:r>
            <a:r>
              <a:rPr lang="en-US" dirty="0" err="1"/>
              <a:t>que</a:t>
            </a:r>
            <a:r>
              <a:rPr lang="en-US" dirty="0"/>
              <a:t> o </a:t>
            </a:r>
            <a:r>
              <a:rPr lang="en-US" dirty="0" err="1"/>
              <a:t>agente</a:t>
            </a:r>
            <a:r>
              <a:rPr lang="en-US" dirty="0"/>
              <a:t> se </a:t>
            </a:r>
            <a:r>
              <a:rPr lang="en-US" dirty="0" err="1"/>
              <a:t>baseie</a:t>
            </a:r>
            <a:r>
              <a:rPr lang="en-US" dirty="0"/>
              <a:t> </a:t>
            </a:r>
            <a:r>
              <a:rPr lang="en-US" dirty="0" err="1"/>
              <a:t>cada</a:t>
            </a:r>
            <a:r>
              <a:rPr lang="en-US" dirty="0"/>
              <a:t> </a:t>
            </a:r>
            <a:r>
              <a:rPr lang="en-US" dirty="0" err="1"/>
              <a:t>vez</a:t>
            </a:r>
            <a:r>
              <a:rPr lang="en-US" dirty="0"/>
              <a:t> </a:t>
            </a:r>
            <a:r>
              <a:rPr lang="en-US" dirty="0" err="1"/>
              <a:t>mais</a:t>
            </a:r>
            <a:r>
              <a:rPr lang="en-US" dirty="0"/>
              <a:t> </a:t>
            </a:r>
            <a:r>
              <a:rPr lang="en-US" dirty="0" err="1"/>
              <a:t>nas</a:t>
            </a:r>
            <a:r>
              <a:rPr lang="en-US" dirty="0"/>
              <a:t> </a:t>
            </a:r>
            <a:r>
              <a:rPr lang="en-US" dirty="0" err="1"/>
              <a:t>ações</a:t>
            </a:r>
            <a:r>
              <a:rPr lang="en-US" dirty="0"/>
              <a:t> </a:t>
            </a:r>
            <a:r>
              <a:rPr lang="en-US" dirty="0" err="1"/>
              <a:t>que</a:t>
            </a:r>
            <a:r>
              <a:rPr lang="en-US" dirty="0"/>
              <a:t> </a:t>
            </a:r>
            <a:r>
              <a:rPr lang="en-US" dirty="0" err="1"/>
              <a:t>apresentam</a:t>
            </a:r>
            <a:r>
              <a:rPr lang="en-US" dirty="0"/>
              <a:t> </a:t>
            </a:r>
            <a:r>
              <a:rPr lang="en-US" dirty="0" err="1"/>
              <a:t>maior</a:t>
            </a:r>
            <a:r>
              <a:rPr lang="en-US" dirty="0"/>
              <a:t> valor de </a:t>
            </a:r>
            <a:r>
              <a:rPr lang="en-US" dirty="0" err="1"/>
              <a:t>recompensa</a:t>
            </a:r>
            <a:r>
              <a:rPr lang="en-US" dirty="0"/>
              <a:t> </a:t>
            </a:r>
            <a:r>
              <a:rPr lang="en-US" dirty="0" err="1"/>
              <a:t>esperado</a:t>
            </a:r>
            <a:r>
              <a:rPr lang="en-US" dirty="0"/>
              <a:t>. Esse </a:t>
            </a:r>
            <a:r>
              <a:rPr lang="en-US" dirty="0" err="1"/>
              <a:t>mecanismo</a:t>
            </a:r>
            <a:r>
              <a:rPr lang="en-US" dirty="0"/>
              <a:t> </a:t>
            </a:r>
            <a:r>
              <a:rPr lang="en-US" dirty="0" err="1"/>
              <a:t>evita</a:t>
            </a:r>
            <a:r>
              <a:rPr lang="en-US" dirty="0"/>
              <a:t> </a:t>
            </a:r>
            <a:r>
              <a:rPr lang="en-US" dirty="0" err="1"/>
              <a:t>que</a:t>
            </a:r>
            <a:r>
              <a:rPr lang="en-US" dirty="0"/>
              <a:t> o </a:t>
            </a:r>
            <a:r>
              <a:rPr lang="en-US" dirty="0" err="1"/>
              <a:t>agente</a:t>
            </a:r>
            <a:r>
              <a:rPr lang="en-US" dirty="0"/>
              <a:t> fique </a:t>
            </a:r>
            <a:r>
              <a:rPr lang="en-US" dirty="0" err="1"/>
              <a:t>preso</a:t>
            </a:r>
            <a:r>
              <a:rPr lang="en-US" dirty="0"/>
              <a:t> </a:t>
            </a:r>
            <a:r>
              <a:rPr lang="en-US" dirty="0" err="1"/>
              <a:t>em</a:t>
            </a:r>
            <a:r>
              <a:rPr lang="en-US" dirty="0"/>
              <a:t> </a:t>
            </a:r>
            <a:r>
              <a:rPr lang="en-US" dirty="0" err="1"/>
              <a:t>soluções</a:t>
            </a:r>
            <a:r>
              <a:rPr lang="en-US" dirty="0"/>
              <a:t> </a:t>
            </a:r>
            <a:r>
              <a:rPr lang="en-US" dirty="0" err="1"/>
              <a:t>subótimas</a:t>
            </a:r>
            <a:r>
              <a:rPr lang="en-US" dirty="0"/>
              <a:t> e </a:t>
            </a:r>
            <a:r>
              <a:rPr lang="en-US" dirty="0" err="1"/>
              <a:t>garante</a:t>
            </a:r>
            <a:r>
              <a:rPr lang="en-US" dirty="0"/>
              <a:t> um </a:t>
            </a:r>
            <a:r>
              <a:rPr lang="en-US" dirty="0" err="1"/>
              <a:t>aprendizado</a:t>
            </a:r>
            <a:r>
              <a:rPr lang="en-US" dirty="0"/>
              <a:t> </a:t>
            </a:r>
            <a:r>
              <a:rPr lang="en-US" dirty="0" err="1"/>
              <a:t>mais</a:t>
            </a:r>
            <a:r>
              <a:rPr lang="en-US" dirty="0"/>
              <a:t> </a:t>
            </a:r>
            <a:r>
              <a:rPr lang="en-US" dirty="0" err="1"/>
              <a:t>abrangente</a:t>
            </a:r>
            <a:r>
              <a:rPr lang="en-US" dirty="0"/>
              <a:t> e </a:t>
            </a:r>
            <a:r>
              <a:rPr lang="en-US" dirty="0" err="1"/>
              <a:t>eficiente</a:t>
            </a:r>
            <a:r>
              <a:rPr lang="en-US" dirty="0"/>
              <a:t>.</a:t>
            </a:r>
          </a:p>
        </p:txBody>
      </p:sp>
      <p:sp>
        <p:nvSpPr>
          <p:cNvPr id="4" name="Slide Number Placeholder 3">
            <a:extLst>
              <a:ext uri="{FF2B5EF4-FFF2-40B4-BE49-F238E27FC236}">
                <a16:creationId xmlns:a16="http://schemas.microsoft.com/office/drawing/2014/main" id="{71A54643-1C0F-5149-35D0-93E6BF3C059F}"/>
              </a:ext>
            </a:extLst>
          </p:cNvPr>
          <p:cNvSpPr>
            <a:spLocks noGrp="1"/>
          </p:cNvSpPr>
          <p:nvPr>
            <p:ph type="sldNum" sz="quarter" idx="5"/>
          </p:nvPr>
        </p:nvSpPr>
        <p:spPr/>
        <p:txBody>
          <a:bodyPr/>
          <a:lstStyle/>
          <a:p>
            <a:fld id="{CC5DA344-5FA2-43F7-9D95-CA56C82B080A}" type="slidenum">
              <a:rPr lang="en-US" smtClean="0"/>
              <a:t>8</a:t>
            </a:fld>
            <a:endParaRPr lang="en-US"/>
          </a:p>
        </p:txBody>
      </p:sp>
    </p:spTree>
    <p:extLst>
      <p:ext uri="{BB962C8B-B14F-4D97-AF65-F5344CB8AC3E}">
        <p14:creationId xmlns:p14="http://schemas.microsoft.com/office/powerpoint/2010/main" val="28240053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CEE29-818E-62E8-10C4-048618E9F7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892F7D-07DA-6643-AA8C-EB0284007F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2D06AD-B046-97A6-F689-0AD0B3089644}"/>
              </a:ext>
            </a:extLst>
          </p:cNvPr>
          <p:cNvSpPr>
            <a:spLocks noGrp="1"/>
          </p:cNvSpPr>
          <p:nvPr>
            <p:ph type="body" idx="1"/>
          </p:nvPr>
        </p:nvSpPr>
        <p:spPr/>
        <p:txBody>
          <a:bodyPr/>
          <a:lstStyle/>
          <a:p>
            <a:r>
              <a:rPr lang="en-US" dirty="0"/>
              <a:t>“Nesse slide, </a:t>
            </a:r>
            <a:r>
              <a:rPr lang="en-US" dirty="0" err="1"/>
              <a:t>apresentamos</a:t>
            </a:r>
            <a:r>
              <a:rPr lang="en-US" dirty="0"/>
              <a:t> a </a:t>
            </a:r>
            <a:r>
              <a:rPr lang="en-US" dirty="0" err="1"/>
              <a:t>solução</a:t>
            </a:r>
            <a:r>
              <a:rPr lang="en-US" dirty="0"/>
              <a:t> </a:t>
            </a:r>
            <a:r>
              <a:rPr lang="en-US" dirty="0" err="1"/>
              <a:t>proposta</a:t>
            </a:r>
            <a:r>
              <a:rPr lang="en-US" dirty="0"/>
              <a:t>. O </a:t>
            </a:r>
            <a:r>
              <a:rPr lang="en-US" dirty="0" err="1"/>
              <a:t>ambiente</a:t>
            </a:r>
            <a:r>
              <a:rPr lang="en-US" dirty="0"/>
              <a:t> é </a:t>
            </a:r>
            <a:r>
              <a:rPr lang="en-US" dirty="0" err="1"/>
              <a:t>representado</a:t>
            </a:r>
            <a:r>
              <a:rPr lang="en-US" dirty="0"/>
              <a:t> </a:t>
            </a:r>
            <a:r>
              <a:rPr lang="en-US" dirty="0" err="1"/>
              <a:t>por</a:t>
            </a:r>
            <a:r>
              <a:rPr lang="en-US" dirty="0"/>
              <a:t> </a:t>
            </a:r>
            <a:r>
              <a:rPr lang="en-US" dirty="0" err="1"/>
              <a:t>uma</a:t>
            </a:r>
            <a:r>
              <a:rPr lang="en-US" dirty="0"/>
              <a:t> grade, </a:t>
            </a:r>
            <a:r>
              <a:rPr lang="en-US" dirty="0" err="1"/>
              <a:t>onde</a:t>
            </a:r>
            <a:r>
              <a:rPr lang="en-US" dirty="0"/>
              <a:t> </a:t>
            </a:r>
            <a:r>
              <a:rPr lang="en-US" dirty="0" err="1"/>
              <a:t>cada</a:t>
            </a:r>
            <a:r>
              <a:rPr lang="en-US" dirty="0"/>
              <a:t> </a:t>
            </a:r>
            <a:r>
              <a:rPr lang="en-US" dirty="0" err="1"/>
              <a:t>ponto</a:t>
            </a:r>
            <a:r>
              <a:rPr lang="en-US" dirty="0"/>
              <a:t> </a:t>
            </a:r>
            <a:r>
              <a:rPr lang="en-US" dirty="0" err="1"/>
              <a:t>simboliza</a:t>
            </a:r>
            <a:r>
              <a:rPr lang="en-US" dirty="0"/>
              <a:t> um </a:t>
            </a:r>
            <a:r>
              <a:rPr lang="en-US" dirty="0" err="1"/>
              <a:t>nó</a:t>
            </a:r>
            <a:r>
              <a:rPr lang="en-US" dirty="0"/>
              <a:t> de </a:t>
            </a:r>
            <a:r>
              <a:rPr lang="en-US" dirty="0" err="1"/>
              <a:t>comunicação</a:t>
            </a:r>
            <a:r>
              <a:rPr lang="en-US" dirty="0"/>
              <a:t>. O </a:t>
            </a:r>
            <a:r>
              <a:rPr lang="en-US" dirty="0" err="1"/>
              <a:t>agente</a:t>
            </a:r>
            <a:r>
              <a:rPr lang="en-US" dirty="0"/>
              <a:t> </a:t>
            </a:r>
            <a:r>
              <a:rPr lang="en-US" dirty="0" err="1"/>
              <a:t>começa</a:t>
            </a:r>
            <a:r>
              <a:rPr lang="en-US" dirty="0"/>
              <a:t> no Gateway, </a:t>
            </a:r>
            <a:r>
              <a:rPr lang="en-US" dirty="0" err="1"/>
              <a:t>indicado</a:t>
            </a:r>
            <a:r>
              <a:rPr lang="en-US" dirty="0"/>
              <a:t> </a:t>
            </a:r>
            <a:r>
              <a:rPr lang="en-US" dirty="0" err="1"/>
              <a:t>pelo</a:t>
            </a:r>
            <a:r>
              <a:rPr lang="en-US" dirty="0"/>
              <a:t> </a:t>
            </a:r>
            <a:r>
              <a:rPr lang="en-US" dirty="0" err="1"/>
              <a:t>nó</a:t>
            </a:r>
            <a:r>
              <a:rPr lang="en-US" dirty="0"/>
              <a:t> </a:t>
            </a:r>
            <a:r>
              <a:rPr lang="en-US" dirty="0" err="1"/>
              <a:t>laranja</a:t>
            </a:r>
            <a:r>
              <a:rPr lang="en-US" dirty="0"/>
              <a:t>, e </a:t>
            </a:r>
            <a:r>
              <a:rPr lang="en-US" dirty="0" err="1"/>
              <a:t>precisa</a:t>
            </a:r>
            <a:r>
              <a:rPr lang="en-US" dirty="0"/>
              <a:t> </a:t>
            </a:r>
            <a:r>
              <a:rPr lang="en-US" dirty="0" err="1"/>
              <a:t>encontrar</a:t>
            </a:r>
            <a:r>
              <a:rPr lang="en-US" dirty="0"/>
              <a:t> o </a:t>
            </a:r>
            <a:r>
              <a:rPr lang="en-US" dirty="0" err="1"/>
              <a:t>melhor</a:t>
            </a:r>
            <a:r>
              <a:rPr lang="en-US" dirty="0"/>
              <a:t> </a:t>
            </a:r>
            <a:r>
              <a:rPr lang="en-US" dirty="0" err="1"/>
              <a:t>caminho</a:t>
            </a:r>
            <a:r>
              <a:rPr lang="en-US" dirty="0"/>
              <a:t> </a:t>
            </a:r>
            <a:r>
              <a:rPr lang="en-US" dirty="0" err="1"/>
              <a:t>até</a:t>
            </a:r>
            <a:r>
              <a:rPr lang="en-US" dirty="0"/>
              <a:t> a RSU, </a:t>
            </a:r>
            <a:r>
              <a:rPr lang="en-US" dirty="0" err="1"/>
              <a:t>que</a:t>
            </a:r>
            <a:r>
              <a:rPr lang="en-US" dirty="0"/>
              <a:t> </a:t>
            </a:r>
            <a:r>
              <a:rPr lang="en-US" dirty="0" err="1"/>
              <a:t>está</a:t>
            </a:r>
            <a:r>
              <a:rPr lang="en-US" dirty="0"/>
              <a:t> </a:t>
            </a:r>
            <a:r>
              <a:rPr lang="en-US" dirty="0" err="1"/>
              <a:t>destacada</a:t>
            </a:r>
            <a:r>
              <a:rPr lang="en-US" dirty="0"/>
              <a:t> </a:t>
            </a:r>
            <a:r>
              <a:rPr lang="en-US" dirty="0" err="1"/>
              <a:t>em</a:t>
            </a:r>
            <a:r>
              <a:rPr lang="en-US" dirty="0"/>
              <a:t> </a:t>
            </a:r>
            <a:r>
              <a:rPr lang="en-US" dirty="0" err="1"/>
              <a:t>azul</a:t>
            </a:r>
            <a:r>
              <a:rPr lang="en-US" dirty="0"/>
              <a:t>.</a:t>
            </a:r>
          </a:p>
          <a:p>
            <a:r>
              <a:rPr lang="en-US" dirty="0"/>
              <a:t>Para </a:t>
            </a:r>
            <a:r>
              <a:rPr lang="en-US" dirty="0" err="1"/>
              <a:t>orientar</a:t>
            </a:r>
            <a:r>
              <a:rPr lang="en-US" dirty="0"/>
              <a:t> o </a:t>
            </a:r>
            <a:r>
              <a:rPr lang="en-US" dirty="0" err="1"/>
              <a:t>processo</a:t>
            </a:r>
            <a:r>
              <a:rPr lang="en-US" dirty="0"/>
              <a:t> de </a:t>
            </a:r>
            <a:r>
              <a:rPr lang="en-US" dirty="0" err="1"/>
              <a:t>aprendizado</a:t>
            </a:r>
            <a:r>
              <a:rPr lang="en-US" dirty="0"/>
              <a:t> </a:t>
            </a:r>
            <a:r>
              <a:rPr lang="en-US" dirty="0" err="1"/>
              <a:t>por</a:t>
            </a:r>
            <a:r>
              <a:rPr lang="en-US" dirty="0"/>
              <a:t> </a:t>
            </a:r>
            <a:r>
              <a:rPr lang="en-US" dirty="0" err="1"/>
              <a:t>reforço</a:t>
            </a:r>
            <a:r>
              <a:rPr lang="en-US" dirty="0"/>
              <a:t>, </a:t>
            </a:r>
            <a:r>
              <a:rPr lang="en-US" dirty="0" err="1"/>
              <a:t>foi</a:t>
            </a:r>
            <a:r>
              <a:rPr lang="en-US" dirty="0"/>
              <a:t> </a:t>
            </a:r>
            <a:r>
              <a:rPr lang="en-US" dirty="0" err="1"/>
              <a:t>definida</a:t>
            </a:r>
            <a:r>
              <a:rPr lang="en-US" dirty="0"/>
              <a:t> </a:t>
            </a:r>
            <a:r>
              <a:rPr lang="en-US" dirty="0" err="1"/>
              <a:t>uma</a:t>
            </a:r>
            <a:r>
              <a:rPr lang="en-US" dirty="0"/>
              <a:t> </a:t>
            </a:r>
            <a:r>
              <a:rPr lang="en-US" dirty="0" err="1"/>
              <a:t>função</a:t>
            </a:r>
            <a:r>
              <a:rPr lang="en-US" dirty="0"/>
              <a:t> de </a:t>
            </a:r>
            <a:r>
              <a:rPr lang="en-US" dirty="0" err="1"/>
              <a:t>recompensa</a:t>
            </a:r>
            <a:r>
              <a:rPr lang="en-US" dirty="0"/>
              <a:t>. Quando o </a:t>
            </a:r>
            <a:r>
              <a:rPr lang="en-US" dirty="0" err="1"/>
              <a:t>agente</a:t>
            </a:r>
            <a:r>
              <a:rPr lang="en-US" dirty="0"/>
              <a:t> </a:t>
            </a:r>
            <a:r>
              <a:rPr lang="en-US" dirty="0" err="1"/>
              <a:t>alcança</a:t>
            </a:r>
            <a:r>
              <a:rPr lang="en-US" dirty="0"/>
              <a:t> o </a:t>
            </a:r>
            <a:r>
              <a:rPr lang="en-US" dirty="0" err="1"/>
              <a:t>destino</a:t>
            </a:r>
            <a:r>
              <a:rPr lang="en-US" dirty="0"/>
              <a:t>, </a:t>
            </a:r>
            <a:r>
              <a:rPr lang="en-US" dirty="0" err="1"/>
              <a:t>ele</a:t>
            </a:r>
            <a:r>
              <a:rPr lang="en-US" dirty="0"/>
              <a:t> </a:t>
            </a:r>
            <a:r>
              <a:rPr lang="en-US" dirty="0" err="1"/>
              <a:t>recebe</a:t>
            </a:r>
            <a:r>
              <a:rPr lang="en-US" dirty="0"/>
              <a:t> </a:t>
            </a:r>
            <a:r>
              <a:rPr lang="en-US" dirty="0" err="1"/>
              <a:t>uma</a:t>
            </a:r>
            <a:r>
              <a:rPr lang="en-US" dirty="0"/>
              <a:t> </a:t>
            </a:r>
            <a:r>
              <a:rPr lang="en-US" dirty="0" err="1"/>
              <a:t>recompensa</a:t>
            </a:r>
            <a:r>
              <a:rPr lang="en-US" dirty="0"/>
              <a:t> </a:t>
            </a:r>
            <a:r>
              <a:rPr lang="en-US" dirty="0" err="1"/>
              <a:t>positiva</a:t>
            </a:r>
            <a:r>
              <a:rPr lang="en-US" dirty="0"/>
              <a:t> de +10. Caso </a:t>
            </a:r>
            <a:r>
              <a:rPr lang="en-US" dirty="0" err="1"/>
              <a:t>ele</a:t>
            </a:r>
            <a:r>
              <a:rPr lang="en-US" dirty="0"/>
              <a:t> </a:t>
            </a:r>
            <a:r>
              <a:rPr lang="en-US" dirty="0" err="1"/>
              <a:t>tente</a:t>
            </a:r>
            <a:r>
              <a:rPr lang="en-US" dirty="0"/>
              <a:t> </a:t>
            </a:r>
            <a:r>
              <a:rPr lang="en-US" dirty="0" err="1"/>
              <a:t>uma</a:t>
            </a:r>
            <a:r>
              <a:rPr lang="en-US" dirty="0"/>
              <a:t> </a:t>
            </a:r>
            <a:r>
              <a:rPr lang="en-US" dirty="0" err="1"/>
              <a:t>ação</a:t>
            </a:r>
            <a:r>
              <a:rPr lang="en-US" dirty="0"/>
              <a:t> </a:t>
            </a:r>
            <a:r>
              <a:rPr lang="en-US" dirty="0" err="1"/>
              <a:t>inválida</a:t>
            </a:r>
            <a:r>
              <a:rPr lang="en-US" dirty="0"/>
              <a:t> — </a:t>
            </a:r>
            <a:r>
              <a:rPr lang="en-US" dirty="0" err="1"/>
              <a:t>ou</a:t>
            </a:r>
            <a:r>
              <a:rPr lang="en-US" dirty="0"/>
              <a:t> </a:t>
            </a:r>
            <a:r>
              <a:rPr lang="en-US" dirty="0" err="1"/>
              <a:t>seja</a:t>
            </a:r>
            <a:r>
              <a:rPr lang="en-US" dirty="0"/>
              <a:t>, se mover para um </a:t>
            </a:r>
            <a:r>
              <a:rPr lang="en-US" dirty="0" err="1"/>
              <a:t>nó</a:t>
            </a:r>
            <a:r>
              <a:rPr lang="en-US" dirty="0"/>
              <a:t> </a:t>
            </a:r>
            <a:r>
              <a:rPr lang="en-US" dirty="0" err="1"/>
              <a:t>inexistente</a:t>
            </a:r>
            <a:r>
              <a:rPr lang="en-US" dirty="0"/>
              <a:t> — </a:t>
            </a:r>
            <a:r>
              <a:rPr lang="en-US" dirty="0" err="1"/>
              <a:t>ele</a:t>
            </a:r>
            <a:r>
              <a:rPr lang="en-US" dirty="0"/>
              <a:t> é </a:t>
            </a:r>
            <a:r>
              <a:rPr lang="en-US" dirty="0" err="1"/>
              <a:t>penalizado</a:t>
            </a:r>
            <a:r>
              <a:rPr lang="en-US" dirty="0"/>
              <a:t> com -5. E, para </a:t>
            </a:r>
            <a:r>
              <a:rPr lang="en-US" dirty="0" err="1"/>
              <a:t>cada</a:t>
            </a:r>
            <a:r>
              <a:rPr lang="en-US" dirty="0"/>
              <a:t> </a:t>
            </a:r>
            <a:r>
              <a:rPr lang="en-US" dirty="0" err="1"/>
              <a:t>movimento</a:t>
            </a:r>
            <a:r>
              <a:rPr lang="en-US" dirty="0"/>
              <a:t> </a:t>
            </a:r>
            <a:r>
              <a:rPr lang="en-US" dirty="0" err="1"/>
              <a:t>intermediário</a:t>
            </a:r>
            <a:r>
              <a:rPr lang="en-US" dirty="0"/>
              <a:t>, </a:t>
            </a:r>
            <a:r>
              <a:rPr lang="en-US" dirty="0" err="1"/>
              <a:t>ele</a:t>
            </a:r>
            <a:r>
              <a:rPr lang="en-US" dirty="0"/>
              <a:t> </a:t>
            </a:r>
            <a:r>
              <a:rPr lang="en-US" dirty="0" err="1"/>
              <a:t>recebe</a:t>
            </a:r>
            <a:r>
              <a:rPr lang="en-US" dirty="0"/>
              <a:t> -1, </a:t>
            </a:r>
            <a:r>
              <a:rPr lang="en-US" dirty="0" err="1"/>
              <a:t>incentivando</a:t>
            </a:r>
            <a:r>
              <a:rPr lang="en-US" dirty="0"/>
              <a:t> a </a:t>
            </a:r>
            <a:r>
              <a:rPr lang="en-US" dirty="0" err="1"/>
              <a:t>busca</a:t>
            </a:r>
            <a:r>
              <a:rPr lang="en-US" dirty="0"/>
              <a:t> </a:t>
            </a:r>
            <a:r>
              <a:rPr lang="en-US" dirty="0" err="1"/>
              <a:t>por</a:t>
            </a:r>
            <a:r>
              <a:rPr lang="en-US" dirty="0"/>
              <a:t> </a:t>
            </a:r>
            <a:r>
              <a:rPr lang="en-US" dirty="0" err="1"/>
              <a:t>trajetos</a:t>
            </a:r>
            <a:r>
              <a:rPr lang="en-US" dirty="0"/>
              <a:t> </a:t>
            </a:r>
            <a:r>
              <a:rPr lang="en-US" dirty="0" err="1"/>
              <a:t>mais</a:t>
            </a:r>
            <a:r>
              <a:rPr lang="en-US" dirty="0"/>
              <a:t> </a:t>
            </a:r>
            <a:r>
              <a:rPr lang="en-US" dirty="0" err="1"/>
              <a:t>curtos</a:t>
            </a:r>
            <a:r>
              <a:rPr lang="en-US" dirty="0"/>
              <a:t> e </a:t>
            </a:r>
            <a:r>
              <a:rPr lang="en-US" dirty="0" err="1"/>
              <a:t>eficientes</a:t>
            </a:r>
            <a:r>
              <a:rPr lang="en-US" dirty="0"/>
              <a:t>.</a:t>
            </a:r>
            <a:endParaRPr lang="en-US" dirty="0">
              <a:ea typeface="Calibri"/>
              <a:cs typeface="Calibri"/>
            </a:endParaRPr>
          </a:p>
          <a:p>
            <a:r>
              <a:rPr lang="en-US" dirty="0"/>
              <a:t>Com </a:t>
            </a:r>
            <a:r>
              <a:rPr lang="en-US" dirty="0" err="1"/>
              <a:t>isso</a:t>
            </a:r>
            <a:r>
              <a:rPr lang="en-US" dirty="0"/>
              <a:t>, o </a:t>
            </a:r>
            <a:r>
              <a:rPr lang="en-US" dirty="0" err="1"/>
              <a:t>agente</a:t>
            </a:r>
            <a:r>
              <a:rPr lang="en-US" dirty="0"/>
              <a:t> </a:t>
            </a:r>
            <a:r>
              <a:rPr lang="en-US" dirty="0" err="1"/>
              <a:t>aprende</a:t>
            </a:r>
            <a:r>
              <a:rPr lang="en-US" dirty="0"/>
              <a:t>, </a:t>
            </a:r>
            <a:r>
              <a:rPr lang="en-US" dirty="0" err="1"/>
              <a:t>ao</a:t>
            </a:r>
            <a:r>
              <a:rPr lang="en-US" dirty="0"/>
              <a:t> </a:t>
            </a:r>
            <a:r>
              <a:rPr lang="en-US" dirty="0" err="1"/>
              <a:t>longo</a:t>
            </a:r>
            <a:r>
              <a:rPr lang="en-US" dirty="0"/>
              <a:t> dos </a:t>
            </a:r>
            <a:r>
              <a:rPr lang="en-US" dirty="0" err="1"/>
              <a:t>episódios</a:t>
            </a:r>
            <a:r>
              <a:rPr lang="en-US" dirty="0"/>
              <a:t>, a </a:t>
            </a:r>
            <a:r>
              <a:rPr lang="en-US" dirty="0" err="1"/>
              <a:t>tomar</a:t>
            </a:r>
            <a:r>
              <a:rPr lang="en-US" dirty="0"/>
              <a:t> </a:t>
            </a:r>
            <a:r>
              <a:rPr lang="en-US" dirty="0" err="1"/>
              <a:t>decisões</a:t>
            </a:r>
            <a:r>
              <a:rPr lang="en-US" dirty="0"/>
              <a:t> </a:t>
            </a:r>
            <a:r>
              <a:rPr lang="en-US" dirty="0" err="1"/>
              <a:t>que</a:t>
            </a:r>
            <a:r>
              <a:rPr lang="en-US" dirty="0"/>
              <a:t> </a:t>
            </a:r>
            <a:r>
              <a:rPr lang="en-US" dirty="0" err="1"/>
              <a:t>maximizam</a:t>
            </a:r>
            <a:r>
              <a:rPr lang="en-US" dirty="0"/>
              <a:t> a </a:t>
            </a:r>
            <a:r>
              <a:rPr lang="en-US" dirty="0" err="1"/>
              <a:t>recompensa</a:t>
            </a:r>
            <a:r>
              <a:rPr lang="en-US" dirty="0"/>
              <a:t> </a:t>
            </a:r>
            <a:r>
              <a:rPr lang="en-US" dirty="0" err="1"/>
              <a:t>acumulada</a:t>
            </a:r>
            <a:r>
              <a:rPr lang="en-US" dirty="0"/>
              <a:t> e o </a:t>
            </a:r>
            <a:r>
              <a:rPr lang="en-US" dirty="0" err="1"/>
              <a:t>levam</a:t>
            </a:r>
            <a:r>
              <a:rPr lang="en-US" dirty="0"/>
              <a:t> </a:t>
            </a:r>
            <a:r>
              <a:rPr lang="en-US" dirty="0" err="1"/>
              <a:t>até</a:t>
            </a:r>
            <a:r>
              <a:rPr lang="en-US" dirty="0"/>
              <a:t> a RSU de forma </a:t>
            </a:r>
            <a:r>
              <a:rPr lang="en-US" dirty="0" err="1"/>
              <a:t>otimizada</a:t>
            </a:r>
            <a:r>
              <a:rPr lang="en-US" dirty="0"/>
              <a:t>.”</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80432FD9-7A42-2D2D-E070-979D9359C018}"/>
              </a:ext>
            </a:extLst>
          </p:cNvPr>
          <p:cNvSpPr>
            <a:spLocks noGrp="1"/>
          </p:cNvSpPr>
          <p:nvPr>
            <p:ph type="sldNum" sz="quarter" idx="5"/>
          </p:nvPr>
        </p:nvSpPr>
        <p:spPr/>
        <p:txBody>
          <a:bodyPr/>
          <a:lstStyle/>
          <a:p>
            <a:fld id="{CC5DA344-5FA2-43F7-9D95-CA56C82B080A}" type="slidenum">
              <a:rPr lang="en-US" smtClean="0"/>
              <a:t>9</a:t>
            </a:fld>
            <a:endParaRPr lang="en-US"/>
          </a:p>
        </p:txBody>
      </p:sp>
    </p:spTree>
    <p:extLst>
      <p:ext uri="{BB962C8B-B14F-4D97-AF65-F5344CB8AC3E}">
        <p14:creationId xmlns:p14="http://schemas.microsoft.com/office/powerpoint/2010/main" val="4125551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D7CAB-4389-C1CE-7A5F-DFB27C33E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E06D59-2305-2911-5491-EFB06F0F70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F76193-DC5F-800F-E5FD-9B5B17EC54C6}"/>
              </a:ext>
            </a:extLst>
          </p:cNvPr>
          <p:cNvSpPr>
            <a:spLocks noGrp="1"/>
          </p:cNvSpPr>
          <p:nvPr>
            <p:ph type="body" idx="1"/>
          </p:nvPr>
        </p:nvSpPr>
        <p:spPr/>
        <p:txBody>
          <a:bodyPr/>
          <a:lstStyle/>
          <a:p>
            <a:r>
              <a:rPr lang="pt-BR" dirty="0"/>
              <a:t>Essa figura apresenta o comportamento de aprendizado e a convergência do agente DQN ao longo dos episódios de treinamento. Inicialmente, observa-se que o agente obtém recompensas baixas ou até negativas, resultado da alta taxa de exploração (ε ≈ 1,0), quando as ações são escolhidas de forma mais aleatória. À medida que o treinamento avança, o valor de ε diminui progressivamente, permitindo que o agente explore menos e passe a explorar o conhecimento adquirido — o que leva a um aumento gradativo das recompensas acumuladas. </a:t>
            </a:r>
            <a:endParaRPr lang="en-US" dirty="0"/>
          </a:p>
        </p:txBody>
      </p:sp>
      <p:sp>
        <p:nvSpPr>
          <p:cNvPr id="4" name="Slide Number Placeholder 3">
            <a:extLst>
              <a:ext uri="{FF2B5EF4-FFF2-40B4-BE49-F238E27FC236}">
                <a16:creationId xmlns:a16="http://schemas.microsoft.com/office/drawing/2014/main" id="{8EDC0EC5-4D64-7AA3-752E-5EB0078C46A5}"/>
              </a:ext>
            </a:extLst>
          </p:cNvPr>
          <p:cNvSpPr>
            <a:spLocks noGrp="1"/>
          </p:cNvSpPr>
          <p:nvPr>
            <p:ph type="sldNum" sz="quarter" idx="5"/>
          </p:nvPr>
        </p:nvSpPr>
        <p:spPr/>
        <p:txBody>
          <a:bodyPr/>
          <a:lstStyle/>
          <a:p>
            <a:fld id="{CC5DA344-5FA2-43F7-9D95-CA56C82B080A}" type="slidenum">
              <a:rPr lang="en-US" smtClean="0"/>
              <a:t>10</a:t>
            </a:fld>
            <a:endParaRPr lang="en-US"/>
          </a:p>
        </p:txBody>
      </p:sp>
    </p:spTree>
    <p:extLst>
      <p:ext uri="{BB962C8B-B14F-4D97-AF65-F5344CB8AC3E}">
        <p14:creationId xmlns:p14="http://schemas.microsoft.com/office/powerpoint/2010/main" val="13173072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C3BB8-EC65-50EE-7D7E-C391701923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253B60-AFF8-FB9D-F83E-EC5BB574E0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69073B-0115-74A0-1610-55AF7B04E490}"/>
              </a:ext>
            </a:extLst>
          </p:cNvPr>
          <p:cNvSpPr>
            <a:spLocks noGrp="1"/>
          </p:cNvSpPr>
          <p:nvPr>
            <p:ph type="body" idx="1"/>
          </p:nvPr>
        </p:nvSpPr>
        <p:spPr/>
        <p:txBody>
          <a:bodyPr/>
          <a:lstStyle/>
          <a:p>
            <a:r>
              <a:rPr lang="pt-BR" dirty="0"/>
              <a:t>Após cerca de 50 episódios, a curva se estabiliza, indicando que o agente alcançou uma política próxima do ótimo e aprendeu a tomar decisões de roteamento mais consistentes. Pequenas oscilações no gráfico refletem a natureza estocástica da política ε-</a:t>
            </a:r>
            <a:r>
              <a:rPr lang="pt-BR" dirty="0" err="1"/>
              <a:t>greedy</a:t>
            </a:r>
            <a:r>
              <a:rPr lang="pt-BR" dirty="0"/>
              <a:t> e o uso do replay buffer, que contribuem para manter o equilíbrio entre exploração e exploração e garantem a estabilidade do aprendizado.</a:t>
            </a:r>
            <a:endParaRPr lang="en-US" dirty="0"/>
          </a:p>
        </p:txBody>
      </p:sp>
      <p:sp>
        <p:nvSpPr>
          <p:cNvPr id="4" name="Slide Number Placeholder 3">
            <a:extLst>
              <a:ext uri="{FF2B5EF4-FFF2-40B4-BE49-F238E27FC236}">
                <a16:creationId xmlns:a16="http://schemas.microsoft.com/office/drawing/2014/main" id="{AF0CF47D-42F4-E9A6-A851-6CF1A311B5A9}"/>
              </a:ext>
            </a:extLst>
          </p:cNvPr>
          <p:cNvSpPr>
            <a:spLocks noGrp="1"/>
          </p:cNvSpPr>
          <p:nvPr>
            <p:ph type="sldNum" sz="quarter" idx="5"/>
          </p:nvPr>
        </p:nvSpPr>
        <p:spPr/>
        <p:txBody>
          <a:bodyPr/>
          <a:lstStyle/>
          <a:p>
            <a:fld id="{CC5DA344-5FA2-43F7-9D95-CA56C82B080A}" type="slidenum">
              <a:rPr lang="en-US" smtClean="0"/>
              <a:t>11</a:t>
            </a:fld>
            <a:endParaRPr lang="en-US"/>
          </a:p>
        </p:txBody>
      </p:sp>
    </p:spTree>
    <p:extLst>
      <p:ext uri="{BB962C8B-B14F-4D97-AF65-F5344CB8AC3E}">
        <p14:creationId xmlns:p14="http://schemas.microsoft.com/office/powerpoint/2010/main" val="4117232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B365B-C9AD-5F66-8329-5E58406645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9FCA54-8AB4-7623-8179-055874AA00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7FD7C3-A8AC-3DC8-79C3-E6D576E8877C}"/>
              </a:ext>
            </a:extLst>
          </p:cNvPr>
          <p:cNvSpPr>
            <a:spLocks noGrp="1"/>
          </p:cNvSpPr>
          <p:nvPr>
            <p:ph type="body" idx="1"/>
          </p:nvPr>
        </p:nvSpPr>
        <p:spPr/>
        <p:txBody>
          <a:bodyPr/>
          <a:lstStyle/>
          <a:p>
            <a:r>
              <a:rPr lang="pt-BR" dirty="0"/>
              <a:t>Após o treinamento, o agente DQN foi avaliado no mesmo ambiente </a:t>
            </a:r>
            <a:r>
              <a:rPr lang="pt-BR" dirty="0" err="1"/>
              <a:t>MiniCity</a:t>
            </a:r>
            <a:r>
              <a:rPr lang="pt-BR" dirty="0"/>
              <a:t> 3×3, conforme mostrado na figura. O agente aprendeu a política ótima de roteamento, convergindo para o caminho mais curto e confiável entre o Gateway e a RSU, destacado em vermelho. Embora existam múltiplos caminhos equivalentes na topologia em grade, o agente preferiu a rota central (0–3–4–7–8).</a:t>
            </a:r>
            <a:endParaRPr lang="en-US" dirty="0"/>
          </a:p>
        </p:txBody>
      </p:sp>
      <p:sp>
        <p:nvSpPr>
          <p:cNvPr id="4" name="Slide Number Placeholder 3">
            <a:extLst>
              <a:ext uri="{FF2B5EF4-FFF2-40B4-BE49-F238E27FC236}">
                <a16:creationId xmlns:a16="http://schemas.microsoft.com/office/drawing/2014/main" id="{E892368D-5266-C310-70BD-DD90C028AAA4}"/>
              </a:ext>
            </a:extLst>
          </p:cNvPr>
          <p:cNvSpPr>
            <a:spLocks noGrp="1"/>
          </p:cNvSpPr>
          <p:nvPr>
            <p:ph type="sldNum" sz="quarter" idx="5"/>
          </p:nvPr>
        </p:nvSpPr>
        <p:spPr/>
        <p:txBody>
          <a:bodyPr/>
          <a:lstStyle/>
          <a:p>
            <a:fld id="{CC5DA344-5FA2-43F7-9D95-CA56C82B080A}" type="slidenum">
              <a:rPr lang="en-US" smtClean="0"/>
              <a:t>12</a:t>
            </a:fld>
            <a:endParaRPr lang="en-US"/>
          </a:p>
        </p:txBody>
      </p:sp>
    </p:spTree>
    <p:extLst>
      <p:ext uri="{BB962C8B-B14F-4D97-AF65-F5344CB8AC3E}">
        <p14:creationId xmlns:p14="http://schemas.microsoft.com/office/powerpoint/2010/main" val="32289099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55F7D-8147-BA6B-90EA-0785AD8FBA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78055-754E-7562-0B00-C0183C9715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51070E-EED4-3F0C-727D-B24F57062340}"/>
              </a:ext>
            </a:extLst>
          </p:cNvPr>
          <p:cNvSpPr>
            <a:spLocks noGrp="1"/>
          </p:cNvSpPr>
          <p:nvPr>
            <p:ph type="body" idx="1"/>
          </p:nvPr>
        </p:nvSpPr>
        <p:spPr/>
        <p:txBody>
          <a:bodyPr/>
          <a:lstStyle/>
          <a:p>
            <a:r>
              <a:rPr lang="en-US" dirty="0" err="1">
                <a:solidFill>
                  <a:srgbClr val="001E2E"/>
                </a:solidFill>
              </a:rPr>
              <a:t>Preferência</a:t>
            </a:r>
            <a:r>
              <a:rPr lang="en-US" dirty="0">
                <a:solidFill>
                  <a:srgbClr val="001E2E"/>
                </a:solidFill>
              </a:rPr>
              <a:t> </a:t>
            </a:r>
            <a:r>
              <a:rPr lang="en-US" dirty="0" err="1">
                <a:solidFill>
                  <a:srgbClr val="001E2E"/>
                </a:solidFill>
              </a:rPr>
              <a:t>explicada</a:t>
            </a:r>
            <a:r>
              <a:rPr lang="en-US" dirty="0">
                <a:solidFill>
                  <a:srgbClr val="001E2E"/>
                </a:solidFill>
              </a:rPr>
              <a:t> pela </a:t>
            </a:r>
            <a:r>
              <a:rPr lang="en-US" b="1" dirty="0" err="1">
                <a:solidFill>
                  <a:srgbClr val="001E2E"/>
                </a:solidFill>
              </a:rPr>
              <a:t>maior</a:t>
            </a:r>
            <a:r>
              <a:rPr lang="en-US" b="1" dirty="0">
                <a:solidFill>
                  <a:srgbClr val="001E2E"/>
                </a:solidFill>
              </a:rPr>
              <a:t> </a:t>
            </a:r>
            <a:r>
              <a:rPr lang="en-US" b="1" dirty="0" err="1">
                <a:solidFill>
                  <a:srgbClr val="001E2E"/>
                </a:solidFill>
              </a:rPr>
              <a:t>conectividade</a:t>
            </a:r>
            <a:r>
              <a:rPr lang="en-US" b="1" dirty="0">
                <a:solidFill>
                  <a:srgbClr val="001E2E"/>
                </a:solidFill>
              </a:rPr>
              <a:t> dos </a:t>
            </a:r>
            <a:r>
              <a:rPr lang="en-US" b="1" dirty="0" err="1">
                <a:solidFill>
                  <a:srgbClr val="001E2E"/>
                </a:solidFill>
              </a:rPr>
              <a:t>nós</a:t>
            </a:r>
            <a:r>
              <a:rPr lang="en-US" b="1" dirty="0">
                <a:solidFill>
                  <a:srgbClr val="001E2E"/>
                </a:solidFill>
              </a:rPr>
              <a:t> </a:t>
            </a:r>
            <a:r>
              <a:rPr lang="en-US" b="1" dirty="0" err="1">
                <a:solidFill>
                  <a:srgbClr val="001E2E"/>
                </a:solidFill>
              </a:rPr>
              <a:t>intermediários</a:t>
            </a:r>
            <a:r>
              <a:rPr lang="en-US" dirty="0">
                <a:solidFill>
                  <a:srgbClr val="001E2E"/>
                </a:solidFill>
              </a:rPr>
              <a:t>, </a:t>
            </a:r>
            <a:r>
              <a:rPr lang="en-US" dirty="0" err="1">
                <a:solidFill>
                  <a:srgbClr val="001E2E"/>
                </a:solidFill>
              </a:rPr>
              <a:t>reduzindo</a:t>
            </a:r>
            <a:r>
              <a:rPr lang="en-US" dirty="0">
                <a:solidFill>
                  <a:srgbClr val="001E2E"/>
                </a:solidFill>
              </a:rPr>
              <a:t> </a:t>
            </a:r>
            <a:r>
              <a:rPr lang="en-US" dirty="0" err="1">
                <a:solidFill>
                  <a:srgbClr val="001E2E"/>
                </a:solidFill>
              </a:rPr>
              <a:t>transições</a:t>
            </a:r>
            <a:r>
              <a:rPr lang="en-US" dirty="0">
                <a:solidFill>
                  <a:srgbClr val="001E2E"/>
                </a:solidFill>
              </a:rPr>
              <a:t> </a:t>
            </a:r>
            <a:r>
              <a:rPr lang="en-US" dirty="0" err="1">
                <a:solidFill>
                  <a:srgbClr val="001E2E"/>
                </a:solidFill>
              </a:rPr>
              <a:t>inválidas</a:t>
            </a:r>
            <a:r>
              <a:rPr lang="pt-BR" dirty="0"/>
              <a:t>. Essa escolha reduz a probabilidade de transições inválidas e maximiza a recompensa acumulada esperada. Assim, o agente DQN foi capaz de aprender uma estratégia de roteamento eficiente e robusta apenas por meio da interação com o ambiente, sem conhecimento prévio da topologia global.</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F9181FB8-E33A-BCD0-193F-8DADDB609F82}"/>
              </a:ext>
            </a:extLst>
          </p:cNvPr>
          <p:cNvSpPr>
            <a:spLocks noGrp="1"/>
          </p:cNvSpPr>
          <p:nvPr>
            <p:ph type="sldNum" sz="quarter" idx="5"/>
          </p:nvPr>
        </p:nvSpPr>
        <p:spPr/>
        <p:txBody>
          <a:bodyPr/>
          <a:lstStyle/>
          <a:p>
            <a:fld id="{CC5DA344-5FA2-43F7-9D95-CA56C82B080A}" type="slidenum">
              <a:rPr lang="en-US" smtClean="0"/>
              <a:t>13</a:t>
            </a:fld>
            <a:endParaRPr lang="en-US"/>
          </a:p>
        </p:txBody>
      </p:sp>
    </p:spTree>
    <p:extLst>
      <p:ext uri="{BB962C8B-B14F-4D97-AF65-F5344CB8AC3E}">
        <p14:creationId xmlns:p14="http://schemas.microsoft.com/office/powerpoint/2010/main" val="1810014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63458-0C84-3D98-4F15-EFE4179EBA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D31AA2-D39D-24EB-D7C9-11CB3AB6D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3FC4C2-0C9A-8D09-595F-D58B175667EB}"/>
              </a:ext>
            </a:extLst>
          </p:cNvPr>
          <p:cNvSpPr>
            <a:spLocks noGrp="1"/>
          </p:cNvSpPr>
          <p:nvPr>
            <p:ph type="body" idx="1"/>
          </p:nvPr>
        </p:nvSpPr>
        <p:spPr/>
        <p:txBody>
          <a:bodyPr/>
          <a:lstStyle/>
          <a:p>
            <a:r>
              <a:rPr lang="pt-BR" dirty="0"/>
              <a:t>Neste trabalho, foi apresentado um framework de prova de conceito para roteamento adaptativo em redes veiculares utilizando um agente DQN treinado em um ambiente leve baseado em grafos. O modelo </a:t>
            </a:r>
            <a:r>
              <a:rPr lang="pt-BR" dirty="0" err="1"/>
              <a:t>MiniVANET</a:t>
            </a:r>
            <a:r>
              <a:rPr lang="pt-BR" dirty="0"/>
              <a:t> permitiu representar a comunicação veicular como uma topologia interconectada de nós e enlaces, possibilitando que o agente aprendesse rotas eficientes sem conhecimento prévio da topologia. Os resultados experimentais mostraram que o DQN alcançou convergência estável e identificou de forma consistente o caminho ótimo entre origem e destino, comprovando a eficácia do desenho de recompensa e da estratégia de aprendizado adotada. Além disso, o ambiente simplificado trouxe vantagens como </a:t>
            </a:r>
            <a:r>
              <a:rPr lang="pt-BR" dirty="0" err="1"/>
              <a:t>interpretabilidade</a:t>
            </a:r>
            <a:r>
              <a:rPr lang="pt-BR" dirty="0"/>
              <a:t>, reprodutibilidade e baixo custo computacional. Como trabalhos futuros, pretende-se expandir o estudo para redes mais complexas e realistas, incorporando mobilidade de nós, variabilidade de enlaces e densidade de tráfego, além de explorar arquiteturas avançadas como Double e </a:t>
            </a:r>
            <a:r>
              <a:rPr lang="pt-BR" dirty="0" err="1"/>
              <a:t>Dueling</a:t>
            </a:r>
            <a:r>
              <a:rPr lang="pt-BR" dirty="0"/>
              <a:t> DQN, redes neurais em grafos e abordagens multiagente para melhorar a escalabilidade em cenários de comunicação veicular 6G e V2X.</a:t>
            </a:r>
            <a:endParaRPr lang="en-US" dirty="0"/>
          </a:p>
        </p:txBody>
      </p:sp>
      <p:sp>
        <p:nvSpPr>
          <p:cNvPr id="4" name="Slide Number Placeholder 3">
            <a:extLst>
              <a:ext uri="{FF2B5EF4-FFF2-40B4-BE49-F238E27FC236}">
                <a16:creationId xmlns:a16="http://schemas.microsoft.com/office/drawing/2014/main" id="{24E69DB2-95D8-C2C2-2B1B-08A94D2607CF}"/>
              </a:ext>
            </a:extLst>
          </p:cNvPr>
          <p:cNvSpPr>
            <a:spLocks noGrp="1"/>
          </p:cNvSpPr>
          <p:nvPr>
            <p:ph type="sldNum" sz="quarter" idx="5"/>
          </p:nvPr>
        </p:nvSpPr>
        <p:spPr/>
        <p:txBody>
          <a:bodyPr/>
          <a:lstStyle/>
          <a:p>
            <a:fld id="{CC5DA344-5FA2-43F7-9D95-CA56C82B080A}" type="slidenum">
              <a:rPr lang="en-US" smtClean="0"/>
              <a:t>14</a:t>
            </a:fld>
            <a:endParaRPr lang="en-US"/>
          </a:p>
        </p:txBody>
      </p:sp>
    </p:spTree>
    <p:extLst>
      <p:ext uri="{BB962C8B-B14F-4D97-AF65-F5344CB8AC3E}">
        <p14:creationId xmlns:p14="http://schemas.microsoft.com/office/powerpoint/2010/main" val="22727757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15</a:t>
            </a:fld>
            <a:endParaRPr lang="en-US"/>
          </a:p>
        </p:txBody>
      </p:sp>
    </p:spTree>
    <p:extLst>
      <p:ext uri="{BB962C8B-B14F-4D97-AF65-F5344CB8AC3E}">
        <p14:creationId xmlns:p14="http://schemas.microsoft.com/office/powerpoint/2010/main" val="2974415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D6D8061D-18C3-4F4F-85EF-561633F58754}" type="datetimeFigureOut">
              <a:rPr lang="en-US" smtClean="0"/>
              <a:t>11/25/2025</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256817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D6D8061D-18C3-4F4F-85EF-561633F58754}" type="datetimeFigureOut">
              <a:rPr lang="en-US" smtClean="0"/>
              <a:t>11/25/2025</a:t>
            </a:fld>
            <a:endParaRPr lang="en-US"/>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041968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D6D8061D-18C3-4F4F-85EF-561633F58754}" type="datetimeFigureOut">
              <a:rPr lang="en-US" smtClean="0"/>
              <a:t>11/25/2025</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098767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D6D8061D-18C3-4F4F-85EF-561633F58754}" type="datetimeFigureOut">
              <a:rPr lang="en-US" smtClean="0"/>
              <a:t>11/25/2025</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753209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D6D8061D-18C3-4F4F-85EF-561633F58754}" type="datetimeFigureOut">
              <a:rPr lang="en-US" smtClean="0"/>
              <a:t>11/25/2025</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362053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D6D8061D-18C3-4F4F-85EF-561633F58754}" type="datetimeFigureOut">
              <a:rPr lang="en-US" smtClean="0"/>
              <a:t>11/25/2025</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29767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D6D8061D-18C3-4F4F-85EF-561633F58754}" type="datetimeFigureOut">
              <a:rPr lang="en-US" smtClean="0"/>
              <a:t>11/25/2025</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055602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D6D8061D-18C3-4F4F-85EF-561633F58754}" type="datetimeFigureOut">
              <a:rPr lang="en-US" smtClean="0"/>
              <a:t>11/25/2025</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848131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D6D8061D-18C3-4F4F-85EF-561633F58754}" type="datetimeFigureOut">
              <a:rPr lang="en-US" smtClean="0"/>
              <a:t>11/25/2025</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267143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D6D8061D-18C3-4F4F-85EF-561633F58754}" type="datetimeFigureOut">
              <a:rPr lang="en-US" smtClean="0"/>
              <a:t>11/25/2025</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275446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D6D8061D-18C3-4F4F-85EF-561633F58754}" type="datetimeFigureOut">
              <a:rPr lang="en-US" smtClean="0"/>
              <a:t>11/25/2025</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354359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4AAEB19-4B49-2801-9B15-7682CDF04C04}"/>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23C3EC-28B3-4644-8BE5-3288734B463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857468" y="486137"/>
            <a:ext cx="5427584" cy="3599727"/>
          </a:xfrm>
        </p:spPr>
        <p:txBody>
          <a:bodyPr anchor="b" anchorCtr="0">
            <a:noAutofit/>
          </a:bodyPr>
          <a:lstStyle>
            <a:lvl1pPr algn="l">
              <a:defRPr sz="4400" cap="all" baseline="0">
                <a:solidFill>
                  <a:schemeClr val="accent1"/>
                </a:solidFill>
              </a:defRPr>
            </a:lvl1pPr>
          </a:lstStyle>
          <a:p>
            <a:r>
              <a:rPr lang="en-US" dirty="0"/>
              <a:t>Click to add title</a:t>
            </a:r>
          </a:p>
        </p:txBody>
      </p:sp>
      <p:sp>
        <p:nvSpPr>
          <p:cNvPr id="13" name="Picture Placeholder 12">
            <a:extLst>
              <a:ext uri="{FF2B5EF4-FFF2-40B4-BE49-F238E27FC236}">
                <a16:creationId xmlns:a16="http://schemas.microsoft.com/office/drawing/2014/main" id="{B64FCBF4-90E6-FFAA-143D-3A01CE52569B}"/>
              </a:ext>
            </a:extLst>
          </p:cNvPr>
          <p:cNvSpPr>
            <a:spLocks noGrp="1"/>
          </p:cNvSpPr>
          <p:nvPr>
            <p:ph type="pic" sz="quarter" idx="10"/>
          </p:nvPr>
        </p:nvSpPr>
        <p:spPr>
          <a:xfrm>
            <a:off x="5624774" y="-6713"/>
            <a:ext cx="6578801" cy="6894576"/>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a:moveTo>
                  <a:pt x="1840375" y="0"/>
                </a:moveTo>
                <a:lnTo>
                  <a:pt x="6578801" y="0"/>
                </a:lnTo>
                <a:lnTo>
                  <a:pt x="6578801" y="6858000"/>
                </a:lnTo>
                <a:lnTo>
                  <a:pt x="0" y="6869575"/>
                </a:lnTo>
                <a:lnTo>
                  <a:pt x="1840375" y="0"/>
                </a:lnTo>
                <a:close/>
              </a:path>
            </a:pathLst>
          </a:custGeom>
        </p:spPr>
        <p:txBody>
          <a:bodyPr tIns="274320" rIns="274320">
            <a:normAutofit/>
          </a:bodyPr>
          <a:lstStyle>
            <a:lvl1pPr marL="0" indent="0" algn="r">
              <a:buNone/>
              <a:defRPr sz="2000"/>
            </a:lvl1pPr>
          </a:lstStyle>
          <a:p>
            <a:r>
              <a:rPr lang="en-US" dirty="0"/>
              <a:t>Click icon to add picture</a:t>
            </a:r>
          </a:p>
        </p:txBody>
      </p:sp>
    </p:spTree>
    <p:extLst>
      <p:ext uri="{BB962C8B-B14F-4D97-AF65-F5344CB8AC3E}">
        <p14:creationId xmlns:p14="http://schemas.microsoft.com/office/powerpoint/2010/main" val="5467025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E1BBEEFE-AE8A-8083-54B6-DBE9BC0E9F10}"/>
              </a:ext>
              <a:ext uri="{C183D7F6-B498-43B3-948B-1728B52AA6E4}">
                <adec:decorative xmlns:adec="http://schemas.microsoft.com/office/drawing/2017/decorative" val="1"/>
              </a:ext>
            </a:extLst>
          </p:cNvPr>
          <p:cNvSpPr/>
          <p:nvPr userDrawn="1"/>
        </p:nvSpPr>
        <p:spPr>
          <a:xfrm>
            <a:off x="-42863" y="0"/>
            <a:ext cx="4658392" cy="6858000"/>
          </a:xfrm>
          <a:custGeom>
            <a:avLst/>
            <a:gdLst>
              <a:gd name="connsiteX0" fmla="*/ 0 w 4658392"/>
              <a:gd name="connsiteY0" fmla="*/ 0 h 6858000"/>
              <a:gd name="connsiteX1" fmla="*/ 4658392 w 4658392"/>
              <a:gd name="connsiteY1" fmla="*/ 0 h 6858000"/>
              <a:gd name="connsiteX2" fmla="*/ 2820797 w 4658392"/>
              <a:gd name="connsiteY2" fmla="*/ 6858000 h 6858000"/>
              <a:gd name="connsiteX3" fmla="*/ 0 w 4658392"/>
              <a:gd name="connsiteY3" fmla="*/ 6858000 h 6858000"/>
              <a:gd name="connsiteX4" fmla="*/ 0 w 465839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8392" h="6858000">
                <a:moveTo>
                  <a:pt x="0" y="0"/>
                </a:moveTo>
                <a:lnTo>
                  <a:pt x="4658392" y="0"/>
                </a:lnTo>
                <a:lnTo>
                  <a:pt x="2820797" y="6858000"/>
                </a:lnTo>
                <a:lnTo>
                  <a:pt x="0" y="6858000"/>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8" name="Straight Connector 7">
            <a:extLst>
              <a:ext uri="{FF2B5EF4-FFF2-40B4-BE49-F238E27FC236}">
                <a16:creationId xmlns:a16="http://schemas.microsoft.com/office/drawing/2014/main" id="{E64FF31D-04D7-B1F4-53B1-AA4170602E03}"/>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9F040EF-92FF-AEA1-BBA6-A4B739E11945}"/>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CA59A84-C321-FDF9-555F-1FB322EBBC7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509286"/>
            <a:ext cx="3200400" cy="5617193"/>
          </a:xfrm>
        </p:spPr>
        <p:txBody>
          <a:bodyPr>
            <a:noAutofit/>
          </a:body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023412" y="509286"/>
            <a:ext cx="4328932" cy="5617194"/>
          </a:xfrm>
        </p:spPr>
        <p:txBody>
          <a:bodyPr anchor="ctr" anchorCtr="0">
            <a:normAutofit/>
          </a:bodyPr>
          <a:lstStyle>
            <a:lvl1pPr marL="0" indent="0">
              <a:lnSpc>
                <a:spcPct val="150000"/>
              </a:lnSpc>
              <a:spcBef>
                <a:spcPts val="1000"/>
              </a:spcBef>
              <a:buNone/>
              <a:defRPr sz="1800"/>
            </a:lvl1pPr>
            <a:lvl2pPr marL="457200" indent="0">
              <a:lnSpc>
                <a:spcPct val="150000"/>
              </a:lnSpc>
              <a:spcBef>
                <a:spcPts val="1000"/>
              </a:spcBef>
              <a:buNone/>
              <a:defRPr sz="1600"/>
            </a:lvl2pPr>
            <a:lvl3pPr marL="914400" indent="0">
              <a:lnSpc>
                <a:spcPct val="150000"/>
              </a:lnSpc>
              <a:spcBef>
                <a:spcPts val="1000"/>
              </a:spcBef>
              <a:buNone/>
              <a:defRPr sz="1400"/>
            </a:lvl3pPr>
            <a:lvl4pPr marL="1371600" indent="0">
              <a:lnSpc>
                <a:spcPct val="150000"/>
              </a:lnSpc>
              <a:spcBef>
                <a:spcPts val="1000"/>
              </a:spcBef>
              <a:buNone/>
              <a:defRPr sz="1200"/>
            </a:lvl4pPr>
            <a:lvl5pPr marL="1828800" indent="0">
              <a:lnSpc>
                <a:spcPct val="150000"/>
              </a:lnSpc>
              <a:spcBef>
                <a:spcPts val="1000"/>
              </a:spcBef>
              <a:buNone/>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13">
            <a:extLst>
              <a:ext uri="{FF2B5EF4-FFF2-40B4-BE49-F238E27FC236}">
                <a16:creationId xmlns:a16="http://schemas.microsoft.com/office/drawing/2014/main" id="{760CD5A6-A0E4-A658-65B1-0D6C0533166A}"/>
              </a:ext>
            </a:extLst>
          </p:cNvPr>
          <p:cNvSpPr>
            <a:spLocks noGrp="1"/>
          </p:cNvSpPr>
          <p:nvPr>
            <p:ph type="pic" sz="quarter" idx="13"/>
          </p:nvPr>
        </p:nvSpPr>
        <p:spPr>
          <a:xfrm>
            <a:off x="9548813" y="-22860"/>
            <a:ext cx="2651760" cy="6903720"/>
          </a:xfrm>
        </p:spPr>
        <p:txBody>
          <a:bodyPr lIns="182880" tIns="274320" rIns="182880">
            <a:normAutofit/>
          </a:bodyPr>
          <a:lstStyle>
            <a:lvl1pPr marL="0" indent="0" algn="ctr">
              <a:buNone/>
              <a:defRPr sz="2000"/>
            </a:lvl1pPr>
          </a:lstStyle>
          <a:p>
            <a:r>
              <a:rPr lang="en-US" dirty="0"/>
              <a:t>Click icon to add picture</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11/25/2025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2819171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picture">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6EC6AF9-CC07-5258-9160-8C6391530C61}"/>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BC6DCCE-3025-75FB-9405-8D51DCD63D67}"/>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516CCC3-736F-49AC-F079-9A090DAA816E}"/>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BF578A-ADDB-6713-E5AD-0FF27EDC2E5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1524000" y="743671"/>
            <a:ext cx="9144000" cy="3361254"/>
          </a:xfrm>
        </p:spPr>
        <p:txBody>
          <a:bodyPr anchor="b">
            <a:noAutofit/>
          </a:bodyPr>
          <a:lstStyle>
            <a:lvl1pPr algn="ctr">
              <a:defRPr sz="4400"/>
            </a:lvl1pPr>
          </a:lstStyle>
          <a:p>
            <a:r>
              <a:rPr lang="en-US" dirty="0"/>
              <a:t>Click to add title</a:t>
            </a:r>
          </a:p>
        </p:txBody>
      </p:sp>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7620" y="4766434"/>
            <a:ext cx="12207240" cy="2121408"/>
          </a:xfrm>
        </p:spPr>
        <p:txBody>
          <a:bodyPr>
            <a:noAutofit/>
          </a:bodyPr>
          <a:lstStyle>
            <a:lvl1pPr marL="0" indent="0" algn="ctr">
              <a:buNone/>
              <a:defRPr sz="2000"/>
            </a:lvl1pPr>
          </a:lstStyle>
          <a:p>
            <a:r>
              <a:rPr lang="en-US" dirty="0"/>
              <a:t>Click icon to add picture</a:t>
            </a:r>
          </a:p>
        </p:txBody>
      </p:sp>
    </p:spTree>
    <p:extLst>
      <p:ext uri="{BB962C8B-B14F-4D97-AF65-F5344CB8AC3E}">
        <p14:creationId xmlns:p14="http://schemas.microsoft.com/office/powerpoint/2010/main" val="31460601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 pictur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3CF0EA4-D201-44E7-3558-D05CB4233ECE}"/>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A643EA3-ACAA-539C-A041-266A895A2B1C}"/>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681E18B-2347-8DB6-2A7F-3EAC100A412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215072" y="528320"/>
            <a:ext cx="5028566" cy="3354992"/>
          </a:xfrm>
        </p:spPr>
        <p:txBody>
          <a:bodyPr anchor="b">
            <a:noAutofit/>
          </a:bodyPr>
          <a:lstStyle>
            <a:lvl1pPr algn="l">
              <a:defRPr sz="4400"/>
            </a:lvl1pPr>
          </a:lstStyle>
          <a:p>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215072" y="4027992"/>
            <a:ext cx="5028565" cy="1894972"/>
          </a:xfrm>
        </p:spPr>
        <p:txBody>
          <a:bodyPr>
            <a:noAutofit/>
          </a:bodyPr>
          <a:lstStyle>
            <a:lvl1pPr marL="0" indent="0" algn="l">
              <a:buNone/>
              <a:defRPr sz="18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7257326" y="-11576"/>
            <a:ext cx="4946249" cy="6903720"/>
          </a:xfrm>
          <a:custGeom>
            <a:avLst/>
            <a:gdLst>
              <a:gd name="connsiteX0" fmla="*/ 0 w 4977139"/>
              <a:gd name="connsiteY0" fmla="*/ 0 h 6858000"/>
              <a:gd name="connsiteX1" fmla="*/ 4977139 w 4977139"/>
              <a:gd name="connsiteY1" fmla="*/ 0 h 6858000"/>
              <a:gd name="connsiteX2" fmla="*/ 4977139 w 4977139"/>
              <a:gd name="connsiteY2" fmla="*/ 6858000 h 6858000"/>
              <a:gd name="connsiteX3" fmla="*/ 0 w 4977139"/>
              <a:gd name="connsiteY3" fmla="*/ 6858000 h 6858000"/>
              <a:gd name="connsiteX4" fmla="*/ 0 w 4977139"/>
              <a:gd name="connsiteY4" fmla="*/ 0 h 6858000"/>
              <a:gd name="connsiteX0" fmla="*/ 0 w 4977139"/>
              <a:gd name="connsiteY0" fmla="*/ 0 h 6892724"/>
              <a:gd name="connsiteX1" fmla="*/ 4977139 w 4977139"/>
              <a:gd name="connsiteY1" fmla="*/ 0 h 6892724"/>
              <a:gd name="connsiteX2" fmla="*/ 4977139 w 4977139"/>
              <a:gd name="connsiteY2" fmla="*/ 6858000 h 6892724"/>
              <a:gd name="connsiteX3" fmla="*/ 1863524 w 4977139"/>
              <a:gd name="connsiteY3" fmla="*/ 6892724 h 6892724"/>
              <a:gd name="connsiteX4" fmla="*/ 0 w 4977139"/>
              <a:gd name="connsiteY4" fmla="*/ 0 h 6892724"/>
              <a:gd name="connsiteX0" fmla="*/ 0 w 4977139"/>
              <a:gd name="connsiteY0" fmla="*/ 0 h 6892724"/>
              <a:gd name="connsiteX1" fmla="*/ 4977139 w 4977139"/>
              <a:gd name="connsiteY1" fmla="*/ 0 h 6892724"/>
              <a:gd name="connsiteX2" fmla="*/ 4977139 w 4977139"/>
              <a:gd name="connsiteY2" fmla="*/ 6892724 h 6892724"/>
              <a:gd name="connsiteX3" fmla="*/ 1863524 w 4977139"/>
              <a:gd name="connsiteY3" fmla="*/ 6892724 h 6892724"/>
              <a:gd name="connsiteX4" fmla="*/ 0 w 4977139"/>
              <a:gd name="connsiteY4" fmla="*/ 0 h 689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7139" h="6892724">
                <a:moveTo>
                  <a:pt x="0" y="0"/>
                </a:moveTo>
                <a:lnTo>
                  <a:pt x="4977139" y="0"/>
                </a:lnTo>
                <a:lnTo>
                  <a:pt x="4977139" y="6892724"/>
                </a:lnTo>
                <a:lnTo>
                  <a:pt x="1863524" y="6892724"/>
                </a:lnTo>
                <a:lnTo>
                  <a:pt x="0" y="0"/>
                </a:lnTo>
                <a:close/>
              </a:path>
            </a:pathLst>
          </a:custGeom>
        </p:spPr>
        <p:txBody>
          <a:bodyPr tIns="274320" rIns="274320">
            <a:normAutofit/>
          </a:bodyPr>
          <a:lstStyle>
            <a:lvl1pPr marL="0" indent="0" algn="r">
              <a:buNone/>
              <a:defRPr sz="2000"/>
            </a:lvl1pPr>
          </a:lstStyle>
          <a:p>
            <a:r>
              <a:rPr lang="en-US" dirty="0"/>
              <a:t>Click icon to add picture</a:t>
            </a:r>
          </a:p>
        </p:txBody>
      </p:sp>
    </p:spTree>
    <p:extLst>
      <p:ext uri="{BB962C8B-B14F-4D97-AF65-F5344CB8AC3E}">
        <p14:creationId xmlns:p14="http://schemas.microsoft.com/office/powerpoint/2010/main" val="14183508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6CBD635-4863-B127-5668-D2C7DA8CDE92}"/>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629720-DD91-8012-686D-AABA439870ED}"/>
              </a:ext>
              <a:ext uri="{C183D7F6-B498-43B3-948B-1728B52AA6E4}">
                <adec:decorative xmlns:adec="http://schemas.microsoft.com/office/drawing/2017/decorative" val="1"/>
              </a:ext>
            </a:extLst>
          </p:cNvPr>
          <p:cNvCxnSpPr>
            <a:cxnSpLocks/>
          </p:cNvCxnSpPr>
          <p:nvPr userDrawn="1"/>
        </p:nvCxnSpPr>
        <p:spPr>
          <a:xfrm flipH="1">
            <a:off x="10911820" y="0"/>
            <a:ext cx="913577" cy="68580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3970117" y="185195"/>
            <a:ext cx="6930838" cy="1505493"/>
          </a:xfrm>
        </p:spPr>
        <p:txBody>
          <a:bodyPr anchor="b" anchorCtr="0">
            <a:no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1FB27827-7491-B1C2-D9C5-975A9FF66EC1}"/>
              </a:ext>
            </a:extLst>
          </p:cNvPr>
          <p:cNvSpPr>
            <a:spLocks noGrp="1"/>
          </p:cNvSpPr>
          <p:nvPr>
            <p:ph type="pic" sz="quarter" idx="10"/>
          </p:nvPr>
        </p:nvSpPr>
        <p:spPr>
          <a:xfrm>
            <a:off x="-18788" y="-22860"/>
            <a:ext cx="3291840" cy="6903720"/>
          </a:xfrm>
        </p:spPr>
        <p:txBody>
          <a:bodyPr lIns="182880" tIns="274320" rIns="182880">
            <a:normAutofit/>
          </a:bodyPr>
          <a:lstStyle>
            <a:lvl1pPr marL="0" indent="0" algn="ctr">
              <a:buNone/>
              <a:defRPr sz="2000"/>
            </a:lvl1pPr>
          </a:lstStyle>
          <a:p>
            <a:r>
              <a:rPr lang="en-US" dirty="0"/>
              <a:t>Click icon to add picture</a:t>
            </a:r>
          </a:p>
        </p:txBody>
      </p:sp>
      <p:sp>
        <p:nvSpPr>
          <p:cNvPr id="11" name="Content Placeholder 3">
            <a:extLst>
              <a:ext uri="{FF2B5EF4-FFF2-40B4-BE49-F238E27FC236}">
                <a16:creationId xmlns:a16="http://schemas.microsoft.com/office/drawing/2014/main" id="{7D4D4555-A25D-09B6-36AF-5977189F2DDE}"/>
              </a:ext>
            </a:extLst>
          </p:cNvPr>
          <p:cNvSpPr>
            <a:spLocks noGrp="1"/>
          </p:cNvSpPr>
          <p:nvPr>
            <p:ph sz="half" idx="2" hasCustomPrompt="1"/>
          </p:nvPr>
        </p:nvSpPr>
        <p:spPr>
          <a:xfrm>
            <a:off x="3970116" y="2022395"/>
            <a:ext cx="6941703" cy="4297680"/>
          </a:xfrm>
        </p:spPr>
        <p:txBody>
          <a:bodyPr>
            <a:normAutofit/>
          </a:bodyPr>
          <a:lstStyle>
            <a:lvl1pPr marL="228600" indent="-228600">
              <a:spcBef>
                <a:spcPts val="1000"/>
              </a:spcBef>
              <a:spcAft>
                <a:spcPts val="1500"/>
              </a:spcAft>
              <a:buFont typeface="Arial" panose="020B0604020202020204" pitchFamily="34" charset="0"/>
              <a:buChar char="•"/>
              <a:defRPr sz="1800"/>
            </a:lvl1pPr>
            <a:lvl2pPr>
              <a:spcBef>
                <a:spcPts val="1000"/>
              </a:spcBef>
              <a:spcAft>
                <a:spcPts val="1500"/>
              </a:spcAft>
              <a:defRPr sz="1800"/>
            </a:lvl2pPr>
            <a:lvl3pPr>
              <a:spcBef>
                <a:spcPts val="1000"/>
              </a:spcBef>
              <a:spcAft>
                <a:spcPts val="1500"/>
              </a:spcAft>
              <a:defRPr sz="1800"/>
            </a:lvl3pPr>
            <a:lvl4pPr>
              <a:spcBef>
                <a:spcPts val="1000"/>
              </a:spcBef>
              <a:spcAft>
                <a:spcPts val="1500"/>
              </a:spcAft>
              <a:defRPr sz="1800"/>
            </a:lvl4pPr>
            <a:lvl5pPr>
              <a:spcBef>
                <a:spcPts val="1000"/>
              </a:spcBef>
              <a:spcAft>
                <a:spcPts val="1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91133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7" name="Freeform 10">
            <a:extLst>
              <a:ext uri="{FF2B5EF4-FFF2-40B4-BE49-F238E27FC236}">
                <a16:creationId xmlns:a16="http://schemas.microsoft.com/office/drawing/2014/main" id="{C4293765-78A6-5206-26C2-E8817B2834F6}"/>
              </a:ext>
              <a:ext uri="{C183D7F6-B498-43B3-948B-1728B52AA6E4}">
                <adec:decorative xmlns:adec="http://schemas.microsoft.com/office/drawing/2017/decorative" val="1"/>
              </a:ext>
            </a:extLst>
          </p:cNvPr>
          <p:cNvSpPr/>
          <p:nvPr userDrawn="1"/>
        </p:nvSpPr>
        <p:spPr>
          <a:xfrm>
            <a:off x="0" y="0"/>
            <a:ext cx="7470792" cy="6858000"/>
          </a:xfrm>
          <a:custGeom>
            <a:avLst/>
            <a:gdLst>
              <a:gd name="connsiteX0" fmla="*/ 0 w 7470792"/>
              <a:gd name="connsiteY0" fmla="*/ 0 h 6858000"/>
              <a:gd name="connsiteX1" fmla="*/ 7470792 w 7470792"/>
              <a:gd name="connsiteY1" fmla="*/ 0 h 6858000"/>
              <a:gd name="connsiteX2" fmla="*/ 5633197 w 7470792"/>
              <a:gd name="connsiteY2" fmla="*/ 6858000 h 6858000"/>
              <a:gd name="connsiteX3" fmla="*/ 0 w 747079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470792" h="6858000">
                <a:moveTo>
                  <a:pt x="0" y="0"/>
                </a:moveTo>
                <a:lnTo>
                  <a:pt x="7470792" y="0"/>
                </a:lnTo>
                <a:lnTo>
                  <a:pt x="5633197" y="6858000"/>
                </a:lnTo>
                <a:lnTo>
                  <a:pt x="0" y="685800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n>
                <a:noFill/>
              </a:ln>
            </a:endParaRPr>
          </a:p>
        </p:txBody>
      </p:sp>
      <p:cxnSp>
        <p:nvCxnSpPr>
          <p:cNvPr id="8" name="Straight Connector 7">
            <a:extLst>
              <a:ext uri="{FF2B5EF4-FFF2-40B4-BE49-F238E27FC236}">
                <a16:creationId xmlns:a16="http://schemas.microsoft.com/office/drawing/2014/main" id="{BB4E351F-7451-86A3-5271-0D00B9EFA662}"/>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A860223-A40E-30ED-6832-0825A930BB67}"/>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B6907E-F17B-783E-D454-DFC62D0977A0}"/>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B12211-7E94-9534-6F2D-2AFD2EBE36F0}"/>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6580245-E985-EC3F-9385-D0F517F0C151}"/>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75A82A3-E3DF-978F-4BD7-10E0F1075B64}"/>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EDC40AE-D1CB-7535-22E2-E6D910FB8229}"/>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685800"/>
            <a:ext cx="9144000" cy="3136738"/>
          </a:xfrm>
        </p:spPr>
        <p:txBody>
          <a:bodyPr anchor="b">
            <a:noAutofit/>
          </a:bodyPr>
          <a:lstStyle>
            <a:lvl1pPr algn="ctr">
              <a:defRPr sz="4400">
                <a:solidFill>
                  <a:schemeClr val="accent6"/>
                </a:solidFill>
              </a:defRPr>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978800"/>
            <a:ext cx="9144000" cy="1965960"/>
          </a:xfrm>
        </p:spPr>
        <p:txBody>
          <a:bodyPr>
            <a:noAutofit/>
          </a:bodyPr>
          <a:lstStyle>
            <a:lvl1pPr marL="0" indent="0" algn="ctr">
              <a:buNone/>
              <a:defRPr sz="18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711713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9E49FCE-658C-FF5A-6405-3D10F1AC1B06}"/>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903C516-D418-5E3E-1E4E-1DF8464338F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7BF5B15-0E8A-A82C-6E9C-FCF3FBAAD468}"/>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54B33CA-9490-C8E1-FE4F-06367AF2921F}"/>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586824F-3198-FE44-5A4A-70312048DAF9}"/>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058CD71-6E97-B6A9-11B6-867ED408DEE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E9FDAA6-BDE8-D6C3-17CD-F87BFB54F54A}"/>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42A0738D-E9A9-14B7-4739-62E402B0C2DF}"/>
              </a:ext>
            </a:extLst>
          </p:cNvPr>
          <p:cNvSpPr>
            <a:spLocks noGrp="1"/>
          </p:cNvSpPr>
          <p:nvPr>
            <p:ph sz="half" idx="14" hasCustomPrompt="1"/>
          </p:nvPr>
        </p:nvSpPr>
        <p:spPr>
          <a:xfrm>
            <a:off x="834961" y="2032663"/>
            <a:ext cx="4463005"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A766D4CB-8BCE-C6EE-EF57-A8A819EBD366}"/>
              </a:ext>
            </a:extLst>
          </p:cNvPr>
          <p:cNvSpPr>
            <a:spLocks noGrp="1"/>
          </p:cNvSpPr>
          <p:nvPr>
            <p:ph sz="half" idx="13" hasCustomPrompt="1"/>
          </p:nvPr>
        </p:nvSpPr>
        <p:spPr>
          <a:xfrm>
            <a:off x="6141720" y="2032663"/>
            <a:ext cx="5212080"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11/25/2025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9365481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DD9208B-0FD2-A7E3-5202-0F18392AE4F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4010E2-9C6F-C582-1E3A-F5D43D0FFBBC}"/>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3D2B8AF-94DE-C211-EAE7-0971C111BEAD}"/>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47A2AC-F284-077E-9A14-EB7D1DE6274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E91F1F-5151-2442-2B89-CE0AB1178507}"/>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FBD82AC-3C5B-819E-E0FF-157D74B840BC}"/>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F299648-2E6E-FA0D-85E4-8884BE34A00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07BD0263-5D42-E696-F170-1F9CF5FF2A74}"/>
              </a:ext>
            </a:extLst>
          </p:cNvPr>
          <p:cNvSpPr>
            <a:spLocks noGrp="1"/>
          </p:cNvSpPr>
          <p:nvPr>
            <p:ph sz="half" idx="15" hasCustomPrompt="1"/>
          </p:nvPr>
        </p:nvSpPr>
        <p:spPr>
          <a:xfrm>
            <a:off x="838199" y="2078963"/>
            <a:ext cx="3435628" cy="4067492"/>
          </a:xfrm>
        </p:spPr>
        <p:txBody>
          <a:bodyPr>
            <a:normAutofit/>
          </a:bodyPr>
          <a:lstStyle>
            <a:lvl1pPr marL="457200" indent="-457200">
              <a:spcBef>
                <a:spcPts val="1000"/>
              </a:spcBef>
              <a:spcAft>
                <a:spcPts val="500"/>
              </a:spcAft>
              <a:buFont typeface="+mj-lt"/>
              <a:buAutoNum type="arabicPeriod"/>
              <a:defRPr sz="1800"/>
            </a:lvl1pPr>
            <a:lvl2pPr marL="914400" indent="-457200">
              <a:spcBef>
                <a:spcPts val="1000"/>
              </a:spcBef>
              <a:spcAft>
                <a:spcPts val="500"/>
              </a:spcAft>
              <a:buFont typeface="+mj-lt"/>
              <a:buAutoNum type="alphaLcPeriod"/>
              <a:defRPr sz="1800"/>
            </a:lvl2pPr>
            <a:lvl3pPr marL="1371600" indent="-457200">
              <a:spcBef>
                <a:spcPts val="1000"/>
              </a:spcBef>
              <a:spcAft>
                <a:spcPts val="500"/>
              </a:spcAft>
              <a:buFont typeface="+mj-lt"/>
              <a:buAutoNum type="arabicParenR"/>
              <a:defRPr sz="1800"/>
            </a:lvl3pPr>
            <a:lvl4pPr marL="1828800" indent="-457200">
              <a:spcBef>
                <a:spcPts val="1000"/>
              </a:spcBef>
              <a:spcAft>
                <a:spcPts val="500"/>
              </a:spcAft>
              <a:buFont typeface="+mj-lt"/>
              <a:buAutoNum type="alphaLcParenR"/>
              <a:defRPr sz="1800"/>
            </a:lvl4pPr>
            <a:lvl5pPr marL="2228850" indent="-457200">
              <a:spcBef>
                <a:spcPts val="1000"/>
              </a:spcBef>
              <a:spcAft>
                <a:spcPts val="500"/>
              </a:spcAft>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1BEE7174-135F-6F9F-11B9-3C3F2F9CDEAA}"/>
              </a:ext>
            </a:extLst>
          </p:cNvPr>
          <p:cNvSpPr>
            <a:spLocks noGrp="1"/>
          </p:cNvSpPr>
          <p:nvPr>
            <p:ph sz="half" idx="14" hasCustomPrompt="1"/>
          </p:nvPr>
        </p:nvSpPr>
        <p:spPr>
          <a:xfrm>
            <a:off x="4965539" y="2087315"/>
            <a:ext cx="6007261" cy="4067492"/>
          </a:xfrm>
        </p:spPr>
        <p:txBody>
          <a:bodyPr>
            <a:normAutofit/>
          </a:bodyPr>
          <a:lstStyle>
            <a:lvl1pPr marL="0" indent="0">
              <a:spcBef>
                <a:spcPts val="1000"/>
              </a:spcBef>
              <a:spcAft>
                <a:spcPts val="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11/25/2025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155297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 picture ">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00B3A65-BB60-F2B4-4CF4-19A7C53F188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F1DB8D5-B954-BFC9-C8D8-F0491CCBE29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507D69F-27D7-2C68-A17D-3F1399C8BE71}"/>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9" y="365125"/>
            <a:ext cx="6645965" cy="1325563"/>
          </a:xfrm>
        </p:spPr>
        <p:txBody>
          <a:bodyPr anchor="b" anchorCtr="0">
            <a:noAutofit/>
          </a:bodyPr>
          <a:lstStyle>
            <a:lvl1pPr>
              <a:defRPr sz="3600"/>
            </a:lvl1pPr>
          </a:lstStyle>
          <a:p>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1" y="2055813"/>
            <a:ext cx="5781261" cy="4067492"/>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7566991" y="-22860"/>
            <a:ext cx="4625008" cy="6903720"/>
          </a:xfrm>
        </p:spPr>
        <p:txBody>
          <a:bodyPr tIns="274320">
            <a:normAutofit/>
          </a:bodyPr>
          <a:lstStyle>
            <a:lvl1pPr marL="0" indent="0" algn="ctr">
              <a:buNone/>
              <a:defRPr sz="2000"/>
            </a:lvl1pPr>
          </a:lstStyle>
          <a:p>
            <a:r>
              <a:rPr lang="en-US" dirty="0"/>
              <a:t>Click icon to add picture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11/25/2025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4383283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ontent + tabl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BC45A11E-9896-BD8B-8CC6-A79C124D89BC}"/>
              </a:ext>
              <a:ext uri="{C183D7F6-B498-43B3-948B-1728B52AA6E4}">
                <adec:decorative xmlns:adec="http://schemas.microsoft.com/office/drawing/2017/decorative" val="1"/>
              </a:ext>
            </a:extLst>
          </p:cNvPr>
          <p:cNvCxnSpPr>
            <a:cxnSpLocks/>
          </p:cNvCxnSpPr>
          <p:nvPr userDrawn="1"/>
        </p:nvCxnSpPr>
        <p:spPr>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386022B-53D6-6CE0-2093-873FC64A5D34}"/>
              </a:ext>
              <a:ext uri="{C183D7F6-B498-43B3-948B-1728B52AA6E4}">
                <adec:decorative xmlns:adec="http://schemas.microsoft.com/office/drawing/2017/decorative" val="1"/>
              </a:ext>
            </a:extLst>
          </p:cNvPr>
          <p:cNvCxnSpPr>
            <a:cxnSpLocks/>
          </p:cNvCxnSpPr>
          <p:nvPr userDrawn="1"/>
        </p:nvCxnSpPr>
        <p:spPr>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BD4BD8F-684C-A145-3376-9E69B0E5BEE5}"/>
              </a:ext>
              <a:ext uri="{C183D7F6-B498-43B3-948B-1728B52AA6E4}">
                <adec:decorative xmlns:adec="http://schemas.microsoft.com/office/drawing/2017/decorative" val="1"/>
              </a:ext>
            </a:extLst>
          </p:cNvPr>
          <p:cNvCxnSpPr>
            <a:cxnSpLocks/>
          </p:cNvCxnSpPr>
          <p:nvPr userDrawn="1"/>
        </p:nvCxnSpPr>
        <p:spPr>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E7C1DA9-2A25-EE21-085B-8857DC1AD722}"/>
              </a:ext>
              <a:ext uri="{C183D7F6-B498-43B3-948B-1728B52AA6E4}">
                <adec:decorative xmlns:adec="http://schemas.microsoft.com/office/drawing/2017/decorative" val="1"/>
              </a:ext>
            </a:extLst>
          </p:cNvPr>
          <p:cNvCxnSpPr>
            <a:cxnSpLocks/>
          </p:cNvCxnSpPr>
          <p:nvPr userDrawn="1"/>
        </p:nvCxnSpPr>
        <p:spPr>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F236BB3-E567-A8A9-5EC2-BCEF79CFCF06}"/>
              </a:ext>
              <a:ext uri="{C183D7F6-B498-43B3-948B-1728B52AA6E4}">
                <adec:decorative xmlns:adec="http://schemas.microsoft.com/office/drawing/2017/decorative" val="1"/>
              </a:ext>
            </a:extLst>
          </p:cNvPr>
          <p:cNvCxnSpPr>
            <a:cxnSpLocks/>
          </p:cNvCxnSpPr>
          <p:nvPr userDrawn="1"/>
        </p:nvCxnSpPr>
        <p:spPr>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4A87C9F-C765-C63C-951E-70721DDACDC3}"/>
              </a:ext>
              <a:ext uri="{C183D7F6-B498-43B3-948B-1728B52AA6E4}">
                <adec:decorative xmlns:adec="http://schemas.microsoft.com/office/drawing/2017/decorative" val="1"/>
              </a:ext>
            </a:extLst>
          </p:cNvPr>
          <p:cNvCxnSpPr>
            <a:cxnSpLocks/>
          </p:cNvCxnSpPr>
          <p:nvPr userDrawn="1"/>
        </p:nvCxnSpPr>
        <p:spPr>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4425665-0C9C-3899-9DB9-ED05D91E26E6}"/>
              </a:ext>
              <a:ext uri="{C183D7F6-B498-43B3-948B-1728B52AA6E4}">
                <adec:decorative xmlns:adec="http://schemas.microsoft.com/office/drawing/2017/decorative" val="1"/>
              </a:ext>
            </a:extLst>
          </p:cNvPr>
          <p:cNvCxnSpPr>
            <a:cxnSpLocks/>
          </p:cNvCxnSpPr>
          <p:nvPr userDrawn="1"/>
        </p:nvCxnSpPr>
        <p:spPr>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125"/>
            <a:ext cx="10330405" cy="1325563"/>
          </a:xfrm>
        </p:spPr>
        <p:txBody>
          <a:bodyPr anchor="b" anchorCtr="0">
            <a:noAutofit/>
          </a:bodyPr>
          <a:lstStyle>
            <a:lvl1pPr>
              <a:defRPr sz="36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2137059"/>
            <a:ext cx="2816352" cy="3986246"/>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109014" y="2137059"/>
            <a:ext cx="7059592" cy="3986245"/>
          </a:xfrm>
        </p:spPr>
        <p:txBody>
          <a:bodyPr>
            <a:normAutofit/>
          </a:bodyPr>
          <a:lstStyle>
            <a:lvl1pPr marL="0" indent="0" algn="ctr">
              <a:buNone/>
              <a:defRPr lang="en-US" sz="2000" dirty="0"/>
            </a:lvl1pPr>
          </a:lstStyle>
          <a:p>
            <a:r>
              <a:rPr lang="en-US" dirty="0"/>
              <a:t>Click icon to add table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11/25/2025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5329173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wo Content 3">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949C8ABD-000F-7A94-A7B0-9589F4FEFD54}"/>
              </a:ext>
              <a:ext uri="{C183D7F6-B498-43B3-948B-1728B52AA6E4}">
                <adec:decorative xmlns:adec="http://schemas.microsoft.com/office/drawing/2017/decorative" val="1"/>
              </a:ext>
            </a:extLst>
          </p:cNvPr>
          <p:cNvCxnSpPr>
            <a:cxnSpLocks/>
          </p:cNvCxnSpPr>
          <p:nvPr userDrawn="1"/>
        </p:nvCxnSpPr>
        <p:spPr>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DC3A554-E5A9-B3CB-913D-45DBFBA79B40}"/>
              </a:ext>
              <a:ext uri="{C183D7F6-B498-43B3-948B-1728B52AA6E4}">
                <adec:decorative xmlns:adec="http://schemas.microsoft.com/office/drawing/2017/decorative" val="1"/>
              </a:ext>
            </a:extLst>
          </p:cNvPr>
          <p:cNvCxnSpPr>
            <a:cxnSpLocks/>
          </p:cNvCxnSpPr>
          <p:nvPr userDrawn="1"/>
        </p:nvCxnSpPr>
        <p:spPr>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3A8DF3-F55A-2494-C55D-8FB94BBC6A49}"/>
              </a:ext>
              <a:ext uri="{C183D7F6-B498-43B3-948B-1728B52AA6E4}">
                <adec:decorative xmlns:adec="http://schemas.microsoft.com/office/drawing/2017/decorative" val="1"/>
              </a:ext>
            </a:extLst>
          </p:cNvPr>
          <p:cNvCxnSpPr>
            <a:cxnSpLocks/>
          </p:cNvCxnSpPr>
          <p:nvPr userDrawn="1"/>
        </p:nvCxnSpPr>
        <p:spPr>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9DC86E-6F8A-B036-5CB2-AA8A79837F35}"/>
              </a:ext>
              <a:ext uri="{C183D7F6-B498-43B3-948B-1728B52AA6E4}">
                <adec:decorative xmlns:adec="http://schemas.microsoft.com/office/drawing/2017/decorative" val="1"/>
              </a:ext>
            </a:extLst>
          </p:cNvPr>
          <p:cNvCxnSpPr>
            <a:cxnSpLocks/>
          </p:cNvCxnSpPr>
          <p:nvPr userDrawn="1"/>
        </p:nvCxnSpPr>
        <p:spPr>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9E0C03-C633-9356-4E28-678BAB7AE02E}"/>
              </a:ext>
              <a:ext uri="{C183D7F6-B498-43B3-948B-1728B52AA6E4}">
                <adec:decorative xmlns:adec="http://schemas.microsoft.com/office/drawing/2017/decorative" val="1"/>
              </a:ext>
            </a:extLst>
          </p:cNvPr>
          <p:cNvCxnSpPr>
            <a:cxnSpLocks/>
          </p:cNvCxnSpPr>
          <p:nvPr userDrawn="1"/>
        </p:nvCxnSpPr>
        <p:spPr>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0C8A4F7-6C4C-719B-298F-3B81223D178B}"/>
              </a:ext>
              <a:ext uri="{C183D7F6-B498-43B3-948B-1728B52AA6E4}">
                <adec:decorative xmlns:adec="http://schemas.microsoft.com/office/drawing/2017/decorative" val="1"/>
              </a:ext>
            </a:extLst>
          </p:cNvPr>
          <p:cNvCxnSpPr>
            <a:cxnSpLocks/>
          </p:cNvCxnSpPr>
          <p:nvPr userDrawn="1"/>
        </p:nvCxnSpPr>
        <p:spPr>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E7E5D8B-D6BC-19AE-C0C9-249A5561700F}"/>
              </a:ext>
              <a:ext uri="{C183D7F6-B498-43B3-948B-1728B52AA6E4}">
                <adec:decorative xmlns:adec="http://schemas.microsoft.com/office/drawing/2017/decorative" val="1"/>
              </a:ext>
            </a:extLst>
          </p:cNvPr>
          <p:cNvCxnSpPr>
            <a:cxnSpLocks/>
          </p:cNvCxnSpPr>
          <p:nvPr userDrawn="1"/>
        </p:nvCxnSpPr>
        <p:spPr>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5" name="Content Placeholder 3">
            <a:extLst>
              <a:ext uri="{FF2B5EF4-FFF2-40B4-BE49-F238E27FC236}">
                <a16:creationId xmlns:a16="http://schemas.microsoft.com/office/drawing/2014/main" id="{7A6C5266-7ECA-B150-2C0F-8670F43AC82D}"/>
              </a:ext>
            </a:extLst>
          </p:cNvPr>
          <p:cNvSpPr>
            <a:spLocks noGrp="1"/>
          </p:cNvSpPr>
          <p:nvPr>
            <p:ph sz="half" idx="14" hasCustomPrompt="1"/>
          </p:nvPr>
        </p:nvSpPr>
        <p:spPr>
          <a:xfrm>
            <a:off x="838200" y="1987669"/>
            <a:ext cx="6974711" cy="4297679"/>
          </a:xfrm>
        </p:spPr>
        <p:txBody>
          <a:bodyPr>
            <a:normAutofit/>
          </a:bodyPr>
          <a:lstStyle>
            <a:lvl1pPr marL="0" indent="0">
              <a:spcBef>
                <a:spcPts val="1000"/>
              </a:spcBef>
              <a:spcAft>
                <a:spcPts val="0"/>
              </a:spcAft>
              <a:buNone/>
              <a:defRPr sz="1800"/>
            </a:lvl1pPr>
            <a:lvl2pPr>
              <a:spcBef>
                <a:spcPts val="1000"/>
              </a:spcBef>
              <a:spcAft>
                <a:spcPts val="500"/>
              </a:spcAft>
              <a:defRPr sz="1800"/>
            </a:lvl2pPr>
            <a:lvl3pPr>
              <a:spcBef>
                <a:spcPts val="1000"/>
              </a:spcBef>
              <a:spcAft>
                <a:spcPts val="500"/>
              </a:spcAft>
              <a:defRPr sz="1800"/>
            </a:lvl3pPr>
            <a:lvl4pPr>
              <a:spcBef>
                <a:spcPts val="1000"/>
              </a:spcBef>
              <a:spcAft>
                <a:spcPts val="500"/>
              </a:spcAft>
              <a:defRPr sz="1800"/>
            </a:lvl4pPr>
            <a:lvl5pPr>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917085" y="1987670"/>
            <a:ext cx="3436716" cy="4297680"/>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11/25/2025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0672737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7588714-FE55-FCEF-78C2-2A4D11ECD7FD}"/>
              </a:ext>
              <a:ext uri="{C183D7F6-B498-43B3-948B-1728B52AA6E4}">
                <adec:decorative xmlns:adec="http://schemas.microsoft.com/office/drawing/2017/decorative" val="1"/>
              </a:ext>
            </a:extLst>
          </p:cNvPr>
          <p:cNvCxnSpPr>
            <a:cxnSpLocks/>
          </p:cNvCxnSpPr>
          <p:nvPr userDrawn="1"/>
        </p:nvCxnSpPr>
        <p:spPr>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AF6BF02-4CD8-261B-BE58-05677EB947E9}"/>
              </a:ext>
              <a:ext uri="{C183D7F6-B498-43B3-948B-1728B52AA6E4}">
                <adec:decorative xmlns:adec="http://schemas.microsoft.com/office/drawing/2017/decorative" val="1"/>
              </a:ext>
            </a:extLst>
          </p:cNvPr>
          <p:cNvCxnSpPr>
            <a:cxnSpLocks/>
          </p:cNvCxnSpPr>
          <p:nvPr userDrawn="1"/>
        </p:nvCxnSpPr>
        <p:spPr>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1AF1F17-7A1F-BCA2-15C0-417928B4E789}"/>
              </a:ext>
              <a:ext uri="{C183D7F6-B498-43B3-948B-1728B52AA6E4}">
                <adec:decorative xmlns:adec="http://schemas.microsoft.com/office/drawing/2017/decorative" val="1"/>
              </a:ext>
            </a:extLst>
          </p:cNvPr>
          <p:cNvCxnSpPr>
            <a:cxnSpLocks/>
          </p:cNvCxnSpPr>
          <p:nvPr userDrawn="1"/>
        </p:nvCxnSpPr>
        <p:spPr>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F0ADE0B-D150-E72B-EE9A-E5EFDBC6F01E}"/>
              </a:ext>
              <a:ext uri="{C183D7F6-B498-43B3-948B-1728B52AA6E4}">
                <adec:decorative xmlns:adec="http://schemas.microsoft.com/office/drawing/2017/decorative" val="1"/>
              </a:ext>
            </a:extLst>
          </p:cNvPr>
          <p:cNvCxnSpPr>
            <a:cxnSpLocks/>
          </p:cNvCxnSpPr>
          <p:nvPr userDrawn="1"/>
        </p:nvCxnSpPr>
        <p:spPr>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BBCDD5A-A3C4-DF4F-74AD-CAF0F465BDAE}"/>
              </a:ext>
              <a:ext uri="{C183D7F6-B498-43B3-948B-1728B52AA6E4}">
                <adec:decorative xmlns:adec="http://schemas.microsoft.com/office/drawing/2017/decorative" val="1"/>
              </a:ext>
            </a:extLst>
          </p:cNvPr>
          <p:cNvCxnSpPr>
            <a:cxnSpLocks/>
          </p:cNvCxnSpPr>
          <p:nvPr userDrawn="1"/>
        </p:nvCxnSpPr>
        <p:spPr>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9430AE4-C878-DFAB-EDA5-36B97176DE7A}"/>
              </a:ext>
              <a:ext uri="{C183D7F6-B498-43B3-948B-1728B52AA6E4}">
                <adec:decorative xmlns:adec="http://schemas.microsoft.com/office/drawing/2017/decorative" val="1"/>
              </a:ext>
            </a:extLst>
          </p:cNvPr>
          <p:cNvCxnSpPr>
            <a:cxnSpLocks/>
          </p:cNvCxnSpPr>
          <p:nvPr userDrawn="1"/>
        </p:nvCxnSpPr>
        <p:spPr>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61487B2-0348-2FFC-03FB-6508B6FD36B3}"/>
              </a:ext>
              <a:ext uri="{C183D7F6-B498-43B3-948B-1728B52AA6E4}">
                <adec:decorative xmlns:adec="http://schemas.microsoft.com/office/drawing/2017/decorative" val="1"/>
              </a:ext>
            </a:extLst>
          </p:cNvPr>
          <p:cNvCxnSpPr>
            <a:cxnSpLocks/>
          </p:cNvCxnSpPr>
          <p:nvPr userDrawn="1"/>
        </p:nvCxnSpPr>
        <p:spPr>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838199" y="2125262"/>
            <a:ext cx="10515600" cy="3675944"/>
          </a:xfrm>
        </p:spPr>
        <p:txBody>
          <a:bodyPr>
            <a:normAutofit/>
          </a:bodyPr>
          <a:lstStyle>
            <a:lvl1pPr marL="0" indent="0" algn="ctr">
              <a:buNone/>
              <a:defRPr sz="2000"/>
            </a:lvl1pPr>
          </a:lstStyle>
          <a:p>
            <a:r>
              <a:rPr lang="en-US" dirty="0"/>
              <a:t>Click icon to add table</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11/25/2025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9467785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ontent 3">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43C0D-8C0B-0B3C-7014-7B7217C008E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7B715CF-E60F-DDAE-369E-BCC2CE4FF958}"/>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2BD8F5F-4228-6BB9-5EA6-55359089824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F721F95-97C0-7151-B9F6-C088CEA1A7F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978AD50A-9C6A-454B-0CAD-EAB518440143}"/>
              </a:ext>
            </a:extLst>
          </p:cNvPr>
          <p:cNvSpPr>
            <a:spLocks noGrp="1"/>
          </p:cNvSpPr>
          <p:nvPr>
            <p:ph type="pic" sz="quarter" idx="10"/>
          </p:nvPr>
        </p:nvSpPr>
        <p:spPr>
          <a:xfrm>
            <a:off x="3810" y="0"/>
            <a:ext cx="7816995" cy="6858000"/>
          </a:xfrm>
          <a:custGeom>
            <a:avLst/>
            <a:gdLst>
              <a:gd name="connsiteX0" fmla="*/ 0 w 7813675"/>
              <a:gd name="connsiteY0" fmla="*/ 0 h 6903720"/>
              <a:gd name="connsiteX1" fmla="*/ 7813675 w 7813675"/>
              <a:gd name="connsiteY1" fmla="*/ 0 h 6903720"/>
              <a:gd name="connsiteX2" fmla="*/ 7813675 w 7813675"/>
              <a:gd name="connsiteY2" fmla="*/ 6903720 h 6903720"/>
              <a:gd name="connsiteX3" fmla="*/ 0 w 7813675"/>
              <a:gd name="connsiteY3" fmla="*/ 6903720 h 6903720"/>
              <a:gd name="connsiteX4" fmla="*/ 0 w 7813675"/>
              <a:gd name="connsiteY4" fmla="*/ 0 h 6903720"/>
              <a:gd name="connsiteX0" fmla="*/ 0 w 7813675"/>
              <a:gd name="connsiteY0" fmla="*/ 0 h 6903720"/>
              <a:gd name="connsiteX1" fmla="*/ 7813675 w 7813675"/>
              <a:gd name="connsiteY1" fmla="*/ 0 h 6903720"/>
              <a:gd name="connsiteX2" fmla="*/ 7813675 w 7813675"/>
              <a:gd name="connsiteY2" fmla="*/ 6903720 h 6903720"/>
              <a:gd name="connsiteX3" fmla="*/ 798854 w 7813675"/>
              <a:gd name="connsiteY3" fmla="*/ 6867163 h 6903720"/>
              <a:gd name="connsiteX4" fmla="*/ 0 w 7813675"/>
              <a:gd name="connsiteY4" fmla="*/ 6903720 h 6903720"/>
              <a:gd name="connsiteX5" fmla="*/ 0 w 7813675"/>
              <a:gd name="connsiteY5" fmla="*/ 0 h 6903720"/>
              <a:gd name="connsiteX0" fmla="*/ 0 w 7813675"/>
              <a:gd name="connsiteY0" fmla="*/ 0 h 6907803"/>
              <a:gd name="connsiteX1" fmla="*/ 7813675 w 7813675"/>
              <a:gd name="connsiteY1" fmla="*/ 0 h 6907803"/>
              <a:gd name="connsiteX2" fmla="*/ 7813675 w 7813675"/>
              <a:gd name="connsiteY2" fmla="*/ 6903720 h 6907803"/>
              <a:gd name="connsiteX3" fmla="*/ 809014 w 7813675"/>
              <a:gd name="connsiteY3" fmla="*/ 6907803 h 6907803"/>
              <a:gd name="connsiteX4" fmla="*/ 0 w 7813675"/>
              <a:gd name="connsiteY4" fmla="*/ 6903720 h 6907803"/>
              <a:gd name="connsiteX5" fmla="*/ 0 w 7813675"/>
              <a:gd name="connsiteY5" fmla="*/ 0 h 6907803"/>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9891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740434 w 7813675"/>
              <a:gd name="connsiteY3" fmla="*/ 6898913 h 6903720"/>
              <a:gd name="connsiteX4" fmla="*/ 0 w 7813675"/>
              <a:gd name="connsiteY4" fmla="*/ 6903720 h 6903720"/>
              <a:gd name="connsiteX5" fmla="*/ 0 w 7813675"/>
              <a:gd name="connsiteY5" fmla="*/ 0 h 6903720"/>
              <a:gd name="connsiteX0" fmla="*/ 0 w 7813675"/>
              <a:gd name="connsiteY0" fmla="*/ 0 h 6907385"/>
              <a:gd name="connsiteX1" fmla="*/ 7813675 w 7813675"/>
              <a:gd name="connsiteY1" fmla="*/ 0 h 6907385"/>
              <a:gd name="connsiteX2" fmla="*/ 7813675 w 7813675"/>
              <a:gd name="connsiteY2" fmla="*/ 6903720 h 6907385"/>
              <a:gd name="connsiteX3" fmla="*/ 6359380 w 7813675"/>
              <a:gd name="connsiteY3" fmla="*/ 6907385 h 6907385"/>
              <a:gd name="connsiteX4" fmla="*/ 740434 w 7813675"/>
              <a:gd name="connsiteY4" fmla="*/ 6898913 h 6907385"/>
              <a:gd name="connsiteX5" fmla="*/ 0 w 7813675"/>
              <a:gd name="connsiteY5" fmla="*/ 6903720 h 6907385"/>
              <a:gd name="connsiteX6" fmla="*/ 0 w 7813675"/>
              <a:gd name="connsiteY6"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3320 w 7816995"/>
              <a:gd name="connsiteY5" fmla="*/ 690372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2899555 w 7816995"/>
              <a:gd name="connsiteY2" fmla="*/ 464820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16995" h="6907385">
                <a:moveTo>
                  <a:pt x="3320" y="0"/>
                </a:moveTo>
                <a:lnTo>
                  <a:pt x="7816995" y="0"/>
                </a:lnTo>
                <a:lnTo>
                  <a:pt x="2899555" y="4648200"/>
                </a:lnTo>
                <a:lnTo>
                  <a:pt x="6362700" y="6907385"/>
                </a:lnTo>
                <a:lnTo>
                  <a:pt x="743754" y="6898913"/>
                </a:lnTo>
                <a:lnTo>
                  <a:pt x="2876060" y="4644390"/>
                </a:lnTo>
                <a:cubicBezTo>
                  <a:pt x="1610033" y="3689302"/>
                  <a:pt x="1117437" y="3324763"/>
                  <a:pt x="0" y="2510645"/>
                </a:cubicBezTo>
                <a:cubicBezTo>
                  <a:pt x="1107" y="1673763"/>
                  <a:pt x="2213" y="836882"/>
                  <a:pt x="3320" y="0"/>
                </a:cubicBezTo>
                <a:close/>
              </a:path>
            </a:pathLst>
          </a:custGeom>
          <a:solidFill>
            <a:schemeClr val="tx2"/>
          </a:solidFill>
          <a:ln w="22225">
            <a:noFill/>
          </a:ln>
        </p:spPr>
        <p:txBody>
          <a:bodyPr lIns="274320" tIns="274320">
            <a:normAutofit/>
          </a:bodyPr>
          <a:lstStyle>
            <a:lvl1pPr marL="0" indent="0">
              <a:buNone/>
              <a:defRPr sz="2000"/>
            </a:lvl1pPr>
          </a:lstStyle>
          <a:p>
            <a:r>
              <a:rPr lang="en-US" dirty="0"/>
              <a:t>Click icon to add picture</a:t>
            </a:r>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6080992" y="731562"/>
            <a:ext cx="4902843" cy="3526778"/>
          </a:xfrm>
          <a:noFill/>
        </p:spPr>
        <p:txBody>
          <a:bodyPr anchor="b">
            <a:noAutofit/>
          </a:bodyPr>
          <a:lstStyle/>
          <a:p>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080992" y="4373217"/>
            <a:ext cx="4902843" cy="1753221"/>
          </a:xfrm>
        </p:spPr>
        <p:txBody>
          <a:bodyPr anchor="t" anchorCtr="0">
            <a:normAutofit/>
          </a:bodyPr>
          <a:lstStyle>
            <a:lvl1pPr marL="0" indent="0">
              <a:spcBef>
                <a:spcPts val="1000"/>
              </a:spcBef>
              <a:buNone/>
              <a:defRPr sz="1800">
                <a:solidFill>
                  <a:schemeClr val="tx1"/>
                </a:solidFill>
              </a:defRPr>
            </a:lvl1pPr>
            <a:lvl2pPr>
              <a:spcBef>
                <a:spcPts val="1000"/>
              </a:spcBef>
              <a:defRPr sz="1600">
                <a:solidFill>
                  <a:schemeClr val="tx1"/>
                </a:solidFill>
              </a:defRPr>
            </a:lvl2pPr>
            <a:lvl3pPr>
              <a:spcBef>
                <a:spcPts val="1000"/>
              </a:spcBef>
              <a:defRPr sz="1400">
                <a:solidFill>
                  <a:schemeClr val="tx1"/>
                </a:solidFill>
              </a:defRPr>
            </a:lvl3pPr>
            <a:lvl4pPr>
              <a:spcBef>
                <a:spcPts val="1000"/>
              </a:spcBef>
              <a:defRPr sz="1200">
                <a:solidFill>
                  <a:schemeClr val="tx1"/>
                </a:solidFill>
              </a:defRPr>
            </a:lvl4pPr>
            <a:lvl5pPr>
              <a:spcBef>
                <a:spcPts val="1000"/>
              </a:spcBef>
              <a:defRPr sz="120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21373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D6D8061D-18C3-4F4F-85EF-561633F58754}" type="datetimeFigureOut">
              <a:rPr lang="en-US" smtClean="0"/>
              <a:t>11/25/2025</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2943391290"/>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 id="2147483688" r:id="rId21"/>
    <p:sldLayoutId id="2147483689" r:id="rId22"/>
    <p:sldLayoutId id="2147483690" r:id="rId23"/>
    <p:sldLayoutId id="2147483691" r:id="rId24"/>
  </p:sldLayoutIdLs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36">
          <p15:clr>
            <a:srgbClr val="F26B43"/>
          </p15:clr>
        </p15:guide>
        <p15:guide id="4" orient="horz" pos="3984">
          <p15:clr>
            <a:srgbClr val="F26B43"/>
          </p15:clr>
        </p15:guide>
        <p15:guide id="5" pos="336">
          <p15:clr>
            <a:srgbClr val="F26B43"/>
          </p15:clr>
        </p15:guide>
        <p15:guide id="6" pos="7344">
          <p15:clr>
            <a:srgbClr val="F26B43"/>
          </p15:clr>
        </p15:guide>
        <p15:guide id="7" pos="720">
          <p15:clr>
            <a:srgbClr val="F26B43"/>
          </p15:clr>
        </p15:guide>
        <p15:guide id="8" pos="69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FEC93CF-2672-7D78-F278-58C5E012E0DF}"/>
              </a:ext>
            </a:extLst>
          </p:cNvPr>
          <p:cNvSpPr>
            <a:spLocks noGrp="1"/>
          </p:cNvSpPr>
          <p:nvPr>
            <p:ph type="ctrTitle"/>
          </p:nvPr>
        </p:nvSpPr>
        <p:spPr>
          <a:xfrm>
            <a:off x="817650" y="1630147"/>
            <a:ext cx="5427584" cy="3599727"/>
          </a:xfrm>
        </p:spPr>
        <p:txBody>
          <a:bodyPr/>
          <a:lstStyle/>
          <a:p>
            <a:r>
              <a:rPr lang="en-US" sz="3200" b="1" i="0" dirty="0">
                <a:ea typeface="+mj-lt"/>
                <a:cs typeface="+mj-lt"/>
              </a:rPr>
              <a:t>Deep Q-Network Based Routing in a Simplified Vehicular Network: A Proof-of-Concept Study</a:t>
            </a:r>
            <a:br>
              <a:rPr lang="en-US" sz="3200" i="0" dirty="0">
                <a:ea typeface="+mj-lt"/>
                <a:cs typeface="+mj-lt"/>
              </a:rPr>
            </a:br>
            <a:br>
              <a:rPr lang="en-US" sz="3200" i="0" dirty="0"/>
            </a:br>
            <a:endParaRPr lang="en-US" sz="2800" i="0"/>
          </a:p>
        </p:txBody>
      </p:sp>
      <p:pic>
        <p:nvPicPr>
          <p:cNvPr id="10" name="Picture Placeholder 9" descr="A traffic jam on a highway&#10;&#10;AI-generated content may be incorrect.">
            <a:extLst>
              <a:ext uri="{FF2B5EF4-FFF2-40B4-BE49-F238E27FC236}">
                <a16:creationId xmlns:a16="http://schemas.microsoft.com/office/drawing/2014/main" id="{BE19317A-CF63-778E-18A0-AEE97D11ECA0}"/>
              </a:ext>
            </a:extLst>
          </p:cNvPr>
          <p:cNvPicPr>
            <a:picLocks noGrp="1" noChangeAspect="1"/>
          </p:cNvPicPr>
          <p:nvPr>
            <p:ph type="pic" sz="quarter" idx="10"/>
          </p:nvPr>
        </p:nvPicPr>
        <p:blipFill>
          <a:blip r:embed="rId3"/>
          <a:srcRect l="21375" r="21375"/>
          <a:stretch/>
        </p:blipFill>
        <p:spPr>
          <a:xfrm>
            <a:off x="5624774" y="-6713"/>
            <a:ext cx="6567758" cy="6873169"/>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a:moveTo>
                  <a:pt x="1840375" y="0"/>
                </a:moveTo>
                <a:lnTo>
                  <a:pt x="6578801" y="0"/>
                </a:lnTo>
                <a:lnTo>
                  <a:pt x="6578801" y="6858000"/>
                </a:lnTo>
                <a:lnTo>
                  <a:pt x="0" y="6869575"/>
                </a:lnTo>
                <a:lnTo>
                  <a:pt x="1840375" y="0"/>
                </a:lnTo>
                <a:close/>
              </a:path>
            </a:pathLst>
          </a:custGeom>
        </p:spPr>
      </p:pic>
      <p:sp>
        <p:nvSpPr>
          <p:cNvPr id="11" name="TextBox 10">
            <a:extLst>
              <a:ext uri="{FF2B5EF4-FFF2-40B4-BE49-F238E27FC236}">
                <a16:creationId xmlns:a16="http://schemas.microsoft.com/office/drawing/2014/main" id="{AE392D13-AA9B-EA24-9EAA-F5002BA11089}"/>
              </a:ext>
            </a:extLst>
          </p:cNvPr>
          <p:cNvSpPr txBox="1"/>
          <p:nvPr/>
        </p:nvSpPr>
        <p:spPr>
          <a:xfrm>
            <a:off x="815662" y="5028127"/>
            <a:ext cx="6096000" cy="7540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cap="all" baseline="0" err="1">
                <a:solidFill>
                  <a:srgbClr val="155767"/>
                </a:solidFill>
                <a:latin typeface="Walbaum Display Light"/>
              </a:rPr>
              <a:t>Alunas</a:t>
            </a:r>
            <a:r>
              <a:rPr lang="en-US" sz="1600" b="1" cap="all" baseline="0" dirty="0">
                <a:solidFill>
                  <a:srgbClr val="155767"/>
                </a:solidFill>
                <a:latin typeface="Walbaum Display Light"/>
              </a:rPr>
              <a:t>: </a:t>
            </a:r>
            <a:r>
              <a:rPr lang="en-US" sz="1600" cap="all" baseline="0" dirty="0">
                <a:solidFill>
                  <a:srgbClr val="155767"/>
                </a:solidFill>
                <a:latin typeface="Walbaum Display Light"/>
              </a:rPr>
              <a:t>Ana Cecília Silveira Fernandes</a:t>
            </a:r>
            <a:endParaRPr lang="en-US" sz="1600">
              <a:solidFill>
                <a:srgbClr val="000000"/>
              </a:solidFill>
              <a:latin typeface="Univers Condensed Light"/>
            </a:endParaRPr>
          </a:p>
          <a:p>
            <a:r>
              <a:rPr lang="en-US" sz="1600" cap="all" dirty="0">
                <a:solidFill>
                  <a:srgbClr val="155767"/>
                </a:solidFill>
                <a:latin typeface="Walbaum Display Light"/>
              </a:rPr>
              <a:t>                   </a:t>
            </a:r>
            <a:r>
              <a:rPr lang="en-US" sz="1600" cap="all" baseline="0" dirty="0">
                <a:solidFill>
                  <a:srgbClr val="155767"/>
                </a:solidFill>
                <a:latin typeface="Walbaum Display Light"/>
              </a:rPr>
              <a:t>Bianca Sabrina de Cássia da Silva</a:t>
            </a:r>
            <a:endParaRPr lang="en-US" sz="1600"/>
          </a:p>
          <a:p>
            <a:pPr algn="ctr"/>
            <a:endParaRPr lang="en-US" sz="1100" dirty="0"/>
          </a:p>
        </p:txBody>
      </p:sp>
    </p:spTree>
    <p:extLst>
      <p:ext uri="{BB962C8B-B14F-4D97-AF65-F5344CB8AC3E}">
        <p14:creationId xmlns:p14="http://schemas.microsoft.com/office/powerpoint/2010/main" val="3078994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5" name="Rectangle 24">
            <a:extLst>
              <a:ext uri="{FF2B5EF4-FFF2-40B4-BE49-F238E27FC236}">
                <a16:creationId xmlns:a16="http://schemas.microsoft.com/office/drawing/2014/main" id="{A6CA7A60-8DF8-4B78-BFE3-B372B90AB9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3">
            <a:extLst>
              <a:ext uri="{FF2B5EF4-FFF2-40B4-BE49-F238E27FC236}">
                <a16:creationId xmlns:a16="http://schemas.microsoft.com/office/drawing/2014/main" id="{FF4BD241-F172-410B-B0DE-9D7344B35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4850735" cy="685799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320626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320626 w 6125882"/>
              <a:gd name="connsiteY4" fmla="*/ 0 h 6857998"/>
              <a:gd name="connsiteX0" fmla="*/ 2034528 w 5839784"/>
              <a:gd name="connsiteY0" fmla="*/ 0 h 6857998"/>
              <a:gd name="connsiteX1" fmla="*/ 5839784 w 5839784"/>
              <a:gd name="connsiteY1" fmla="*/ 0 h 6857998"/>
              <a:gd name="connsiteX2" fmla="*/ 5839784 w 5839784"/>
              <a:gd name="connsiteY2" fmla="*/ 6857998 h 6857998"/>
              <a:gd name="connsiteX3" fmla="*/ 0 w 5839784"/>
              <a:gd name="connsiteY3" fmla="*/ 6856093 h 6857998"/>
              <a:gd name="connsiteX4" fmla="*/ 2034528 w 5839784"/>
              <a:gd name="connsiteY4" fmla="*/ 0 h 6857998"/>
              <a:gd name="connsiteX0" fmla="*/ 2482758 w 5839784"/>
              <a:gd name="connsiteY0" fmla="*/ 10951 h 6857998"/>
              <a:gd name="connsiteX1" fmla="*/ 5839784 w 5839784"/>
              <a:gd name="connsiteY1" fmla="*/ 0 h 6857998"/>
              <a:gd name="connsiteX2" fmla="*/ 5839784 w 5839784"/>
              <a:gd name="connsiteY2" fmla="*/ 6857998 h 6857998"/>
              <a:gd name="connsiteX3" fmla="*/ 0 w 5839784"/>
              <a:gd name="connsiteY3" fmla="*/ 6856093 h 6857998"/>
              <a:gd name="connsiteX4" fmla="*/ 2482758 w 5839784"/>
              <a:gd name="connsiteY4" fmla="*/ 10951 h 6857998"/>
              <a:gd name="connsiteX0" fmla="*/ 2495565 w 5839784"/>
              <a:gd name="connsiteY0" fmla="*/ 0 h 6857998"/>
              <a:gd name="connsiteX1" fmla="*/ 5839784 w 5839784"/>
              <a:gd name="connsiteY1" fmla="*/ 0 h 6857998"/>
              <a:gd name="connsiteX2" fmla="*/ 5839784 w 5839784"/>
              <a:gd name="connsiteY2" fmla="*/ 6857998 h 6857998"/>
              <a:gd name="connsiteX3" fmla="*/ 0 w 5839784"/>
              <a:gd name="connsiteY3" fmla="*/ 6856093 h 6857998"/>
              <a:gd name="connsiteX4" fmla="*/ 2495565 w 5839784"/>
              <a:gd name="connsiteY4" fmla="*/ 0 h 6857998"/>
              <a:gd name="connsiteX0" fmla="*/ 2328480 w 5672699"/>
              <a:gd name="connsiteY0" fmla="*/ 0 h 6857998"/>
              <a:gd name="connsiteX1" fmla="*/ 5672699 w 5672699"/>
              <a:gd name="connsiteY1" fmla="*/ 0 h 6857998"/>
              <a:gd name="connsiteX2" fmla="*/ 5672699 w 5672699"/>
              <a:gd name="connsiteY2" fmla="*/ 6857998 h 6857998"/>
              <a:gd name="connsiteX3" fmla="*/ 0 w 5672699"/>
              <a:gd name="connsiteY3" fmla="*/ 6856093 h 6857998"/>
              <a:gd name="connsiteX4" fmla="*/ 2328480 w 5672699"/>
              <a:gd name="connsiteY4" fmla="*/ 0 h 6857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2699" h="6857998">
                <a:moveTo>
                  <a:pt x="2328480" y="0"/>
                </a:moveTo>
                <a:lnTo>
                  <a:pt x="5672699" y="0"/>
                </a:lnTo>
                <a:lnTo>
                  <a:pt x="5672699" y="6857998"/>
                </a:lnTo>
                <a:lnTo>
                  <a:pt x="0" y="6856093"/>
                </a:lnTo>
                <a:lnTo>
                  <a:pt x="232848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668005" y="657225"/>
            <a:ext cx="3230515" cy="3569822"/>
          </a:xfrm>
        </p:spPr>
        <p:txBody>
          <a:bodyPr vert="horz" lIns="91440" tIns="45720" rIns="91440" bIns="45720" rtlCol="0" anchor="t">
            <a:normAutofit/>
          </a:bodyPr>
          <a:lstStyle/>
          <a:p>
            <a:r>
              <a:rPr lang="en-US" dirty="0"/>
              <a:t>AGENDA</a:t>
            </a:r>
          </a:p>
        </p:txBody>
      </p:sp>
      <p:cxnSp>
        <p:nvCxnSpPr>
          <p:cNvPr id="29" name="Straight Connector 28">
            <a:extLst>
              <a:ext uri="{FF2B5EF4-FFF2-40B4-BE49-F238E27FC236}">
                <a16:creationId xmlns:a16="http://schemas.microsoft.com/office/drawing/2014/main" id="{F1CEFB97-33B1-4F90-A6B8-EAA26EEA1E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793" y="4305300"/>
            <a:ext cx="4515220" cy="25527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graphicFrame>
        <p:nvGraphicFramePr>
          <p:cNvPr id="7" name="Content Placeholder 2">
            <a:extLst>
              <a:ext uri="{FF2B5EF4-FFF2-40B4-BE49-F238E27FC236}">
                <a16:creationId xmlns:a16="http://schemas.microsoft.com/office/drawing/2014/main" id="{5DBD1B5F-AEC2-8252-7DC6-AF4395E8B967}"/>
              </a:ext>
            </a:extLst>
          </p:cNvPr>
          <p:cNvGraphicFramePr>
            <a:graphicFrameLocks noGrp="1"/>
          </p:cNvGraphicFramePr>
          <p:nvPr>
            <p:ph idx="1"/>
            <p:extLst>
              <p:ext uri="{D42A27DB-BD31-4B8C-83A1-F6EECF244321}">
                <p14:modId xmlns:p14="http://schemas.microsoft.com/office/powerpoint/2010/main" val="3373924189"/>
              </p:ext>
            </p:extLst>
          </p:nvPr>
        </p:nvGraphicFramePr>
        <p:xfrm>
          <a:off x="5146923" y="832268"/>
          <a:ext cx="6289466" cy="51469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38351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5" name="Rectangle 24">
            <a:extLst>
              <a:ext uri="{FF2B5EF4-FFF2-40B4-BE49-F238E27FC236}">
                <a16:creationId xmlns:a16="http://schemas.microsoft.com/office/drawing/2014/main" id="{D6309531-94CD-4CF6-AACE-80EC085E0F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C829807-7791-462F-8C59-969B0EC71A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2"/>
            <a:ext cx="12192000" cy="685734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5230906" y="533401"/>
            <a:ext cx="6427694" cy="1380744"/>
          </a:xfrm>
        </p:spPr>
        <p:txBody>
          <a:bodyPr vert="horz" lIns="91440" tIns="45720" rIns="91440" bIns="45720" rtlCol="0" anchor="ctr">
            <a:normAutofit/>
          </a:bodyPr>
          <a:lstStyle/>
          <a:p>
            <a:r>
              <a:rPr lang="en-US" sz="4400"/>
              <a:t>Motivação</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sz="half" idx="2"/>
          </p:nvPr>
        </p:nvSpPr>
        <p:spPr>
          <a:xfrm>
            <a:off x="5225685" y="1637439"/>
            <a:ext cx="6481170" cy="4219073"/>
          </a:xfrm>
        </p:spPr>
        <p:txBody>
          <a:bodyPr vert="horz" lIns="91440" tIns="45720" rIns="91440" bIns="45720" rtlCol="0" anchor="ctr">
            <a:normAutofit/>
          </a:bodyPr>
          <a:lstStyle/>
          <a:p>
            <a:r>
              <a:rPr lang="en-US" sz="2400" b="1" dirty="0">
                <a:ea typeface="+mn-lt"/>
                <a:cs typeface="+mn-lt"/>
              </a:rPr>
              <a:t>Alta </a:t>
            </a:r>
            <a:r>
              <a:rPr lang="en-US" sz="2400" b="1" err="1">
                <a:ea typeface="+mn-lt"/>
                <a:cs typeface="+mn-lt"/>
              </a:rPr>
              <a:t>mobilidade</a:t>
            </a:r>
            <a:r>
              <a:rPr lang="en-US" sz="2400" b="1" dirty="0">
                <a:ea typeface="+mn-lt"/>
                <a:cs typeface="+mn-lt"/>
              </a:rPr>
              <a:t> e </a:t>
            </a:r>
            <a:r>
              <a:rPr lang="en-US" sz="2400" b="1" err="1">
                <a:ea typeface="+mn-lt"/>
                <a:cs typeface="+mn-lt"/>
              </a:rPr>
              <a:t>variação</a:t>
            </a:r>
            <a:r>
              <a:rPr lang="en-US" sz="2400" b="1" dirty="0">
                <a:ea typeface="+mn-lt"/>
                <a:cs typeface="+mn-lt"/>
              </a:rPr>
              <a:t> </a:t>
            </a:r>
            <a:r>
              <a:rPr lang="en-US" sz="2400" b="1" err="1">
                <a:ea typeface="+mn-lt"/>
                <a:cs typeface="+mn-lt"/>
              </a:rPr>
              <a:t>topológica</a:t>
            </a:r>
            <a:r>
              <a:rPr lang="en-US" sz="2400" dirty="0">
                <a:ea typeface="+mn-lt"/>
                <a:cs typeface="+mn-lt"/>
              </a:rPr>
              <a:t> </a:t>
            </a:r>
            <a:r>
              <a:rPr lang="en-US" sz="2400" err="1">
                <a:ea typeface="+mn-lt"/>
                <a:cs typeface="+mn-lt"/>
              </a:rPr>
              <a:t>tornam</a:t>
            </a:r>
            <a:r>
              <a:rPr lang="en-US" sz="2400" dirty="0">
                <a:ea typeface="+mn-lt"/>
                <a:cs typeface="+mn-lt"/>
              </a:rPr>
              <a:t> o </a:t>
            </a:r>
            <a:r>
              <a:rPr lang="en-US" sz="2400" err="1">
                <a:ea typeface="+mn-lt"/>
                <a:cs typeface="+mn-lt"/>
              </a:rPr>
              <a:t>roteamento</a:t>
            </a:r>
            <a:r>
              <a:rPr lang="en-US" sz="2400" dirty="0">
                <a:ea typeface="+mn-lt"/>
                <a:cs typeface="+mn-lt"/>
              </a:rPr>
              <a:t> </a:t>
            </a:r>
            <a:r>
              <a:rPr lang="en-US" sz="2400" err="1">
                <a:ea typeface="+mn-lt"/>
                <a:cs typeface="+mn-lt"/>
              </a:rPr>
              <a:t>em</a:t>
            </a:r>
            <a:r>
              <a:rPr lang="en-US" sz="2400" dirty="0">
                <a:ea typeface="+mn-lt"/>
                <a:cs typeface="+mn-lt"/>
              </a:rPr>
              <a:t> VANETs um </a:t>
            </a:r>
            <a:r>
              <a:rPr lang="en-US" sz="2400" err="1">
                <a:ea typeface="+mn-lt"/>
                <a:cs typeface="+mn-lt"/>
              </a:rPr>
              <a:t>desafio</a:t>
            </a:r>
            <a:r>
              <a:rPr lang="en-US" sz="2400" dirty="0">
                <a:ea typeface="+mn-lt"/>
                <a:cs typeface="+mn-lt"/>
              </a:rPr>
              <a:t>.</a:t>
            </a:r>
            <a:endParaRPr lang="en-US" sz="2400"/>
          </a:p>
          <a:p>
            <a:r>
              <a:rPr lang="en-US" sz="2400" b="1" err="1">
                <a:ea typeface="+mn-lt"/>
                <a:cs typeface="+mn-lt"/>
              </a:rPr>
              <a:t>Protocolos</a:t>
            </a:r>
            <a:r>
              <a:rPr lang="en-US" sz="2400" b="1" dirty="0">
                <a:ea typeface="+mn-lt"/>
                <a:cs typeface="+mn-lt"/>
              </a:rPr>
              <a:t> </a:t>
            </a:r>
            <a:r>
              <a:rPr lang="en-US" sz="2400" b="1" err="1">
                <a:ea typeface="+mn-lt"/>
                <a:cs typeface="+mn-lt"/>
              </a:rPr>
              <a:t>tradicionais</a:t>
            </a:r>
            <a:r>
              <a:rPr lang="en-US" sz="2400" b="1" dirty="0">
                <a:ea typeface="+mn-lt"/>
                <a:cs typeface="+mn-lt"/>
              </a:rPr>
              <a:t> (AODV, DSR)</a:t>
            </a:r>
            <a:r>
              <a:rPr lang="en-US" sz="2400" dirty="0">
                <a:ea typeface="+mn-lt"/>
                <a:cs typeface="+mn-lt"/>
              </a:rPr>
              <a:t> </a:t>
            </a:r>
            <a:r>
              <a:rPr lang="en-US" sz="2400" err="1">
                <a:ea typeface="+mn-lt"/>
                <a:cs typeface="+mn-lt"/>
              </a:rPr>
              <a:t>não</a:t>
            </a:r>
            <a:r>
              <a:rPr lang="en-US" sz="2400" dirty="0">
                <a:ea typeface="+mn-lt"/>
                <a:cs typeface="+mn-lt"/>
              </a:rPr>
              <a:t> se </a:t>
            </a:r>
            <a:r>
              <a:rPr lang="en-US" sz="2400" err="1">
                <a:ea typeface="+mn-lt"/>
                <a:cs typeface="+mn-lt"/>
              </a:rPr>
              <a:t>adaptam</a:t>
            </a:r>
            <a:r>
              <a:rPr lang="en-US" sz="2400" dirty="0">
                <a:ea typeface="+mn-lt"/>
                <a:cs typeface="+mn-lt"/>
              </a:rPr>
              <a:t> </a:t>
            </a:r>
            <a:r>
              <a:rPr lang="en-US" sz="2400" err="1">
                <a:ea typeface="+mn-lt"/>
                <a:cs typeface="+mn-lt"/>
              </a:rPr>
              <a:t>bem</a:t>
            </a:r>
            <a:r>
              <a:rPr lang="en-US" sz="2400" dirty="0">
                <a:ea typeface="+mn-lt"/>
                <a:cs typeface="+mn-lt"/>
              </a:rPr>
              <a:t> a </a:t>
            </a:r>
            <a:r>
              <a:rPr lang="en-US" sz="2400" err="1">
                <a:ea typeface="+mn-lt"/>
                <a:cs typeface="+mn-lt"/>
              </a:rPr>
              <a:t>mudanças</a:t>
            </a:r>
            <a:r>
              <a:rPr lang="en-US" sz="2400" dirty="0">
                <a:ea typeface="+mn-lt"/>
                <a:cs typeface="+mn-lt"/>
              </a:rPr>
              <a:t> </a:t>
            </a:r>
            <a:r>
              <a:rPr lang="en-US" sz="2400" err="1">
                <a:ea typeface="+mn-lt"/>
                <a:cs typeface="+mn-lt"/>
              </a:rPr>
              <a:t>rápidas</a:t>
            </a:r>
            <a:r>
              <a:rPr lang="en-US" sz="2400" dirty="0">
                <a:ea typeface="+mn-lt"/>
                <a:cs typeface="+mn-lt"/>
              </a:rPr>
              <a:t> </a:t>
            </a:r>
            <a:r>
              <a:rPr lang="en-US" sz="2400" err="1">
                <a:ea typeface="+mn-lt"/>
                <a:cs typeface="+mn-lt"/>
              </a:rPr>
              <a:t>na</a:t>
            </a:r>
            <a:r>
              <a:rPr lang="en-US" sz="2400" dirty="0">
                <a:ea typeface="+mn-lt"/>
                <a:cs typeface="+mn-lt"/>
              </a:rPr>
              <a:t> rede.</a:t>
            </a:r>
            <a:endParaRPr lang="en-US" sz="2400"/>
          </a:p>
          <a:p>
            <a:r>
              <a:rPr lang="en-US" sz="2400" b="1" dirty="0">
                <a:ea typeface="+mn-lt"/>
                <a:cs typeface="+mn-lt"/>
              </a:rPr>
              <a:t>Deep Reinforcement Learning (DRL)</a:t>
            </a:r>
            <a:r>
              <a:rPr lang="en-US" sz="2400" dirty="0">
                <a:ea typeface="+mn-lt"/>
                <a:cs typeface="+mn-lt"/>
              </a:rPr>
              <a:t> </a:t>
            </a:r>
            <a:r>
              <a:rPr lang="en-US" sz="2400" err="1">
                <a:ea typeface="+mn-lt"/>
                <a:cs typeface="+mn-lt"/>
              </a:rPr>
              <a:t>oferece</a:t>
            </a:r>
            <a:r>
              <a:rPr lang="en-US" sz="2400" dirty="0">
                <a:ea typeface="+mn-lt"/>
                <a:cs typeface="+mn-lt"/>
              </a:rPr>
              <a:t> </a:t>
            </a:r>
            <a:r>
              <a:rPr lang="en-US" sz="2400" err="1">
                <a:ea typeface="+mn-lt"/>
                <a:cs typeface="+mn-lt"/>
              </a:rPr>
              <a:t>adaptação</a:t>
            </a:r>
            <a:r>
              <a:rPr lang="en-US" sz="2400" dirty="0">
                <a:ea typeface="+mn-lt"/>
                <a:cs typeface="+mn-lt"/>
              </a:rPr>
              <a:t> </a:t>
            </a:r>
            <a:r>
              <a:rPr lang="en-US" sz="2400" err="1">
                <a:ea typeface="+mn-lt"/>
                <a:cs typeface="+mn-lt"/>
              </a:rPr>
              <a:t>dinâmica</a:t>
            </a:r>
            <a:r>
              <a:rPr lang="en-US" sz="2400" dirty="0">
                <a:ea typeface="+mn-lt"/>
                <a:cs typeface="+mn-lt"/>
              </a:rPr>
              <a:t> e </a:t>
            </a:r>
            <a:r>
              <a:rPr lang="en-US" sz="2400" err="1">
                <a:ea typeface="+mn-lt"/>
                <a:cs typeface="+mn-lt"/>
              </a:rPr>
              <a:t>tomada</a:t>
            </a:r>
            <a:r>
              <a:rPr lang="en-US" sz="2400" dirty="0">
                <a:ea typeface="+mn-lt"/>
                <a:cs typeface="+mn-lt"/>
              </a:rPr>
              <a:t> de </a:t>
            </a:r>
            <a:r>
              <a:rPr lang="en-US" sz="2400" err="1">
                <a:ea typeface="+mn-lt"/>
                <a:cs typeface="+mn-lt"/>
              </a:rPr>
              <a:t>decisão</a:t>
            </a:r>
            <a:r>
              <a:rPr lang="en-US" sz="2400" dirty="0">
                <a:ea typeface="+mn-lt"/>
                <a:cs typeface="+mn-lt"/>
              </a:rPr>
              <a:t> </a:t>
            </a:r>
            <a:r>
              <a:rPr lang="en-US" sz="2400" err="1">
                <a:ea typeface="+mn-lt"/>
                <a:cs typeface="+mn-lt"/>
              </a:rPr>
              <a:t>inteligente</a:t>
            </a:r>
            <a:r>
              <a:rPr lang="en-US" sz="2400" dirty="0">
                <a:ea typeface="+mn-lt"/>
                <a:cs typeface="+mn-lt"/>
              </a:rPr>
              <a:t>.</a:t>
            </a:r>
            <a:endParaRPr lang="en-US" sz="2400"/>
          </a:p>
        </p:txBody>
      </p:sp>
      <p:pic>
        <p:nvPicPr>
          <p:cNvPr id="6" name="Picture Placeholder 5" descr="A red button with black string&#10;&#10;AI-generated content may be incorrect.">
            <a:extLst>
              <a:ext uri="{FF2B5EF4-FFF2-40B4-BE49-F238E27FC236}">
                <a16:creationId xmlns:a16="http://schemas.microsoft.com/office/drawing/2014/main" id="{58E8B255-7C8C-77DF-FAB1-B31BACB0241A}"/>
              </a:ext>
            </a:extLst>
          </p:cNvPr>
          <p:cNvPicPr>
            <a:picLocks noGrp="1" noChangeAspect="1"/>
          </p:cNvPicPr>
          <p:nvPr>
            <p:ph type="pic" sz="quarter" idx="10"/>
          </p:nvPr>
        </p:nvPicPr>
        <p:blipFill>
          <a:blip r:embed="rId3"/>
          <a:srcRect l="10289" r="40560" b="-2"/>
          <a:stretch>
            <a:fillRect/>
          </a:stretch>
        </p:blipFill>
        <p:spPr>
          <a:xfrm>
            <a:off x="20" y="2"/>
            <a:ext cx="5049819" cy="6857998"/>
          </a:xfrm>
          <a:custGeom>
            <a:avLst/>
            <a:gdLst/>
            <a:ahLst/>
            <a:cxnLst/>
            <a:rect l="l" t="t" r="r" b="b"/>
            <a:pathLst>
              <a:path w="5049839" h="6857998">
                <a:moveTo>
                  <a:pt x="0" y="0"/>
                </a:moveTo>
                <a:lnTo>
                  <a:pt x="5049839" y="1331"/>
                </a:lnTo>
                <a:lnTo>
                  <a:pt x="3110749" y="6857998"/>
                </a:lnTo>
                <a:lnTo>
                  <a:pt x="0" y="6857998"/>
                </a:lnTo>
                <a:close/>
              </a:path>
            </a:pathLst>
          </a:custGeom>
        </p:spPr>
      </p:pic>
      <p:cxnSp>
        <p:nvCxnSpPr>
          <p:cNvPr id="29" name="Straight Connector 28">
            <a:extLst>
              <a:ext uri="{FF2B5EF4-FFF2-40B4-BE49-F238E27FC236}">
                <a16:creationId xmlns:a16="http://schemas.microsoft.com/office/drawing/2014/main" id="{F75BF611-D2A5-4454-8C47-95B0BC4228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845859" y="0"/>
            <a:ext cx="699247" cy="685734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C2312DA-BDBD-40EE-84AB-53293C1CDE0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210" y="5788959"/>
            <a:ext cx="7396312" cy="106904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667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97E98A-4C03-7925-1AB3-3ADECB564CE1}"/>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E66C82DC-3AAA-4D04-5ACF-D1BB6EE7BB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220649D-4E18-027F-49AB-F8278738B2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8AE7DB-B893-5F7C-2439-A4679179C11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EE5A30A-1688-08E9-0864-8084E50BAB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B23C7B7-C9F5-097D-229B-176921DC22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623948D-69E4-AB3A-0606-94EDCA19FC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FDDCC45-1E13-493F-D1C1-C155290C9F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5" name="Rectangle 24">
            <a:extLst>
              <a:ext uri="{FF2B5EF4-FFF2-40B4-BE49-F238E27FC236}">
                <a16:creationId xmlns:a16="http://schemas.microsoft.com/office/drawing/2014/main" id="{1FA40D8C-523A-8DBF-CE3E-30125669D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CF051AE-DBF7-B2B9-18E6-8311E19B4A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2"/>
            <a:ext cx="12192000" cy="685734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48B574-4677-D3B6-F74A-6C2EBF952E0C}"/>
              </a:ext>
            </a:extLst>
          </p:cNvPr>
          <p:cNvSpPr>
            <a:spLocks noGrp="1"/>
          </p:cNvSpPr>
          <p:nvPr>
            <p:ph type="title"/>
          </p:nvPr>
        </p:nvSpPr>
        <p:spPr>
          <a:xfrm>
            <a:off x="5230906" y="533401"/>
            <a:ext cx="6427694" cy="1380744"/>
          </a:xfrm>
        </p:spPr>
        <p:txBody>
          <a:bodyPr vert="horz" lIns="91440" tIns="45720" rIns="91440" bIns="45720" rtlCol="0" anchor="ctr">
            <a:normAutofit/>
          </a:bodyPr>
          <a:lstStyle/>
          <a:p>
            <a:r>
              <a:rPr lang="en-US" sz="4400"/>
              <a:t>Motivação</a:t>
            </a:r>
          </a:p>
        </p:txBody>
      </p:sp>
      <p:sp>
        <p:nvSpPr>
          <p:cNvPr id="3" name="Content Placeholder 2">
            <a:extLst>
              <a:ext uri="{FF2B5EF4-FFF2-40B4-BE49-F238E27FC236}">
                <a16:creationId xmlns:a16="http://schemas.microsoft.com/office/drawing/2014/main" id="{1E83C822-075A-8F00-10D9-CCA9B85CB31C}"/>
              </a:ext>
            </a:extLst>
          </p:cNvPr>
          <p:cNvSpPr>
            <a:spLocks noGrp="1"/>
          </p:cNvSpPr>
          <p:nvPr>
            <p:ph sz="half" idx="2"/>
          </p:nvPr>
        </p:nvSpPr>
        <p:spPr>
          <a:xfrm>
            <a:off x="5225685" y="1719501"/>
            <a:ext cx="6481170" cy="4219073"/>
          </a:xfrm>
        </p:spPr>
        <p:txBody>
          <a:bodyPr vert="horz" lIns="91440" tIns="45720" rIns="91440" bIns="45720" rtlCol="0" anchor="ctr">
            <a:normAutofit/>
          </a:bodyPr>
          <a:lstStyle/>
          <a:p>
            <a:r>
              <a:rPr lang="en-US" sz="2400" err="1">
                <a:ea typeface="+mn-lt"/>
                <a:cs typeface="+mn-lt"/>
              </a:rPr>
              <a:t>Estudos</a:t>
            </a:r>
            <a:r>
              <a:rPr lang="en-US" sz="2400" dirty="0">
                <a:ea typeface="+mn-lt"/>
                <a:cs typeface="+mn-lt"/>
              </a:rPr>
              <a:t> </a:t>
            </a:r>
            <a:r>
              <a:rPr lang="en-US" sz="2400" err="1">
                <a:ea typeface="+mn-lt"/>
                <a:cs typeface="+mn-lt"/>
              </a:rPr>
              <a:t>existentes</a:t>
            </a:r>
            <a:r>
              <a:rPr lang="en-US" sz="2400" dirty="0">
                <a:ea typeface="+mn-lt"/>
                <a:cs typeface="+mn-lt"/>
              </a:rPr>
              <a:t> </a:t>
            </a:r>
            <a:r>
              <a:rPr lang="en-US" sz="2400" err="1">
                <a:ea typeface="+mn-lt"/>
                <a:cs typeface="+mn-lt"/>
              </a:rPr>
              <a:t>usam</a:t>
            </a:r>
            <a:r>
              <a:rPr lang="en-US" sz="2400" dirty="0">
                <a:ea typeface="+mn-lt"/>
                <a:cs typeface="+mn-lt"/>
              </a:rPr>
              <a:t> </a:t>
            </a:r>
            <a:r>
              <a:rPr lang="en-US" sz="2400" b="1" err="1">
                <a:ea typeface="+mn-lt"/>
                <a:cs typeface="+mn-lt"/>
              </a:rPr>
              <a:t>simulações</a:t>
            </a:r>
            <a:r>
              <a:rPr lang="en-US" sz="2400" b="1" dirty="0">
                <a:ea typeface="+mn-lt"/>
                <a:cs typeface="+mn-lt"/>
              </a:rPr>
              <a:t> </a:t>
            </a:r>
            <a:r>
              <a:rPr lang="en-US" sz="2400" b="1" err="1">
                <a:ea typeface="+mn-lt"/>
                <a:cs typeface="+mn-lt"/>
              </a:rPr>
              <a:t>complexas</a:t>
            </a:r>
            <a:r>
              <a:rPr lang="en-US" sz="2400" b="1" dirty="0">
                <a:ea typeface="+mn-lt"/>
                <a:cs typeface="+mn-lt"/>
              </a:rPr>
              <a:t> e de alto </a:t>
            </a:r>
            <a:r>
              <a:rPr lang="en-US" sz="2400" b="1" err="1">
                <a:ea typeface="+mn-lt"/>
                <a:cs typeface="+mn-lt"/>
              </a:rPr>
              <a:t>custo</a:t>
            </a:r>
            <a:r>
              <a:rPr lang="en-US" sz="2400" dirty="0">
                <a:ea typeface="+mn-lt"/>
                <a:cs typeface="+mn-lt"/>
              </a:rPr>
              <a:t>, </a:t>
            </a:r>
            <a:r>
              <a:rPr lang="en-US" sz="2400" err="1">
                <a:ea typeface="+mn-lt"/>
                <a:cs typeface="+mn-lt"/>
              </a:rPr>
              <a:t>dificultando</a:t>
            </a:r>
            <a:r>
              <a:rPr lang="en-US" sz="2400" dirty="0">
                <a:ea typeface="+mn-lt"/>
                <a:cs typeface="+mn-lt"/>
              </a:rPr>
              <a:t> a </a:t>
            </a:r>
            <a:r>
              <a:rPr lang="en-US" sz="2400" err="1">
                <a:ea typeface="+mn-lt"/>
                <a:cs typeface="+mn-lt"/>
              </a:rPr>
              <a:t>análise</a:t>
            </a:r>
            <a:r>
              <a:rPr lang="en-US" sz="2400" dirty="0">
                <a:ea typeface="+mn-lt"/>
                <a:cs typeface="+mn-lt"/>
              </a:rPr>
              <a:t> do </a:t>
            </a:r>
            <a:r>
              <a:rPr lang="en-US" sz="2400" err="1">
                <a:ea typeface="+mn-lt"/>
                <a:cs typeface="+mn-lt"/>
              </a:rPr>
              <a:t>aprendizado</a:t>
            </a:r>
            <a:r>
              <a:rPr lang="en-US" sz="2400" dirty="0">
                <a:ea typeface="+mn-lt"/>
                <a:cs typeface="+mn-lt"/>
              </a:rPr>
              <a:t>.</a:t>
            </a:r>
          </a:p>
          <a:p>
            <a:r>
              <a:rPr lang="en-US" sz="2400" dirty="0">
                <a:ea typeface="+mn-lt"/>
                <a:cs typeface="+mn-lt"/>
              </a:rPr>
              <a:t>Este </a:t>
            </a:r>
            <a:r>
              <a:rPr lang="en-US" sz="2400" err="1">
                <a:ea typeface="+mn-lt"/>
                <a:cs typeface="+mn-lt"/>
              </a:rPr>
              <a:t>trabalho</a:t>
            </a:r>
            <a:r>
              <a:rPr lang="en-US" sz="2400" dirty="0">
                <a:ea typeface="+mn-lt"/>
                <a:cs typeface="+mn-lt"/>
              </a:rPr>
              <a:t> </a:t>
            </a:r>
            <a:r>
              <a:rPr lang="en-US" sz="2400" err="1">
                <a:ea typeface="+mn-lt"/>
                <a:cs typeface="+mn-lt"/>
              </a:rPr>
              <a:t>propõe</a:t>
            </a:r>
            <a:r>
              <a:rPr lang="en-US" sz="2400" dirty="0">
                <a:ea typeface="+mn-lt"/>
                <a:cs typeface="+mn-lt"/>
              </a:rPr>
              <a:t> um </a:t>
            </a:r>
            <a:r>
              <a:rPr lang="en-US" sz="2400" b="1" err="1">
                <a:ea typeface="+mn-lt"/>
                <a:cs typeface="+mn-lt"/>
              </a:rPr>
              <a:t>ambiente</a:t>
            </a:r>
            <a:r>
              <a:rPr lang="en-US" sz="2400" b="1" dirty="0">
                <a:ea typeface="+mn-lt"/>
                <a:cs typeface="+mn-lt"/>
              </a:rPr>
              <a:t> </a:t>
            </a:r>
            <a:r>
              <a:rPr lang="en-US" sz="2400" b="1" err="1">
                <a:ea typeface="+mn-lt"/>
                <a:cs typeface="+mn-lt"/>
              </a:rPr>
              <a:t>simplificado</a:t>
            </a:r>
            <a:r>
              <a:rPr lang="en-US" sz="2400" b="1" dirty="0">
                <a:ea typeface="+mn-lt"/>
                <a:cs typeface="+mn-lt"/>
              </a:rPr>
              <a:t> e </a:t>
            </a:r>
            <a:r>
              <a:rPr lang="en-US" sz="2400" b="1" err="1">
                <a:ea typeface="+mn-lt"/>
                <a:cs typeface="+mn-lt"/>
              </a:rPr>
              <a:t>interpretável</a:t>
            </a:r>
            <a:r>
              <a:rPr lang="en-US" sz="2400" dirty="0">
                <a:ea typeface="+mn-lt"/>
                <a:cs typeface="+mn-lt"/>
              </a:rPr>
              <a:t> para </a:t>
            </a:r>
            <a:r>
              <a:rPr lang="en-US" sz="2400" err="1">
                <a:ea typeface="+mn-lt"/>
                <a:cs typeface="+mn-lt"/>
              </a:rPr>
              <a:t>estudar</a:t>
            </a:r>
            <a:r>
              <a:rPr lang="en-US" sz="2400" dirty="0">
                <a:ea typeface="+mn-lt"/>
                <a:cs typeface="+mn-lt"/>
              </a:rPr>
              <a:t> o </a:t>
            </a:r>
            <a:r>
              <a:rPr lang="en-US" sz="2400" err="1">
                <a:ea typeface="+mn-lt"/>
                <a:cs typeface="+mn-lt"/>
              </a:rPr>
              <a:t>comportamento</a:t>
            </a:r>
            <a:r>
              <a:rPr lang="en-US" sz="2400" dirty="0">
                <a:ea typeface="+mn-lt"/>
                <a:cs typeface="+mn-lt"/>
              </a:rPr>
              <a:t> de um </a:t>
            </a:r>
            <a:r>
              <a:rPr lang="en-US" sz="2400" err="1">
                <a:ea typeface="+mn-lt"/>
                <a:cs typeface="+mn-lt"/>
              </a:rPr>
              <a:t>agente</a:t>
            </a:r>
            <a:r>
              <a:rPr lang="en-US" sz="2400" dirty="0">
                <a:ea typeface="+mn-lt"/>
                <a:cs typeface="+mn-lt"/>
              </a:rPr>
              <a:t> </a:t>
            </a:r>
            <a:r>
              <a:rPr lang="en-US" sz="2400" b="1" dirty="0">
                <a:ea typeface="+mn-lt"/>
                <a:cs typeface="+mn-lt"/>
              </a:rPr>
              <a:t>DQN</a:t>
            </a:r>
            <a:r>
              <a:rPr lang="en-US" sz="2400" dirty="0">
                <a:ea typeface="+mn-lt"/>
                <a:cs typeface="+mn-lt"/>
              </a:rPr>
              <a:t> </a:t>
            </a:r>
            <a:r>
              <a:rPr lang="en-US" sz="2400" err="1">
                <a:ea typeface="+mn-lt"/>
                <a:cs typeface="+mn-lt"/>
              </a:rPr>
              <a:t>em</a:t>
            </a:r>
            <a:r>
              <a:rPr lang="en-US" sz="2400" dirty="0">
                <a:ea typeface="+mn-lt"/>
                <a:cs typeface="+mn-lt"/>
              </a:rPr>
              <a:t> </a:t>
            </a:r>
            <a:r>
              <a:rPr lang="en-US" sz="2400" err="1">
                <a:ea typeface="+mn-lt"/>
                <a:cs typeface="+mn-lt"/>
              </a:rPr>
              <a:t>roteamento</a:t>
            </a:r>
            <a:r>
              <a:rPr lang="en-US" sz="2400" dirty="0">
                <a:ea typeface="+mn-lt"/>
                <a:cs typeface="+mn-lt"/>
              </a:rPr>
              <a:t> </a:t>
            </a:r>
            <a:r>
              <a:rPr lang="en-US" sz="2400" err="1">
                <a:ea typeface="+mn-lt"/>
                <a:cs typeface="+mn-lt"/>
              </a:rPr>
              <a:t>veicular</a:t>
            </a:r>
            <a:r>
              <a:rPr lang="en-US" sz="2400" dirty="0">
                <a:ea typeface="+mn-lt"/>
                <a:cs typeface="+mn-lt"/>
              </a:rPr>
              <a:t> </a:t>
            </a:r>
            <a:r>
              <a:rPr lang="en-US" sz="2400" err="1">
                <a:ea typeface="+mn-lt"/>
                <a:cs typeface="+mn-lt"/>
              </a:rPr>
              <a:t>dinâmico</a:t>
            </a:r>
            <a:r>
              <a:rPr lang="en-US" sz="2400" dirty="0">
                <a:ea typeface="+mn-lt"/>
                <a:cs typeface="+mn-lt"/>
              </a:rPr>
              <a:t>.</a:t>
            </a:r>
          </a:p>
          <a:p>
            <a:r>
              <a:rPr lang="en-US" sz="2400" err="1">
                <a:ea typeface="+mn-lt"/>
                <a:cs typeface="+mn-lt"/>
              </a:rPr>
              <a:t>Objetivo</a:t>
            </a:r>
            <a:r>
              <a:rPr lang="en-US" sz="2400" dirty="0">
                <a:ea typeface="+mn-lt"/>
                <a:cs typeface="+mn-lt"/>
              </a:rPr>
              <a:t>: </a:t>
            </a:r>
            <a:r>
              <a:rPr lang="en-US" sz="2400" b="1" err="1">
                <a:ea typeface="+mn-lt"/>
                <a:cs typeface="+mn-lt"/>
              </a:rPr>
              <a:t>entender</a:t>
            </a:r>
            <a:r>
              <a:rPr lang="en-US" sz="2400" b="1" dirty="0">
                <a:ea typeface="+mn-lt"/>
                <a:cs typeface="+mn-lt"/>
              </a:rPr>
              <a:t>, </a:t>
            </a:r>
            <a:r>
              <a:rPr lang="en-US" sz="2400" b="1" err="1">
                <a:ea typeface="+mn-lt"/>
                <a:cs typeface="+mn-lt"/>
              </a:rPr>
              <a:t>visualizar</a:t>
            </a:r>
            <a:r>
              <a:rPr lang="en-US" sz="2400" b="1" dirty="0">
                <a:ea typeface="+mn-lt"/>
                <a:cs typeface="+mn-lt"/>
              </a:rPr>
              <a:t> e </a:t>
            </a:r>
            <a:r>
              <a:rPr lang="en-US" sz="2400" b="1" err="1">
                <a:ea typeface="+mn-lt"/>
                <a:cs typeface="+mn-lt"/>
              </a:rPr>
              <a:t>aprimorar</a:t>
            </a:r>
            <a:r>
              <a:rPr lang="en-US" sz="2400" dirty="0">
                <a:ea typeface="+mn-lt"/>
                <a:cs typeface="+mn-lt"/>
              </a:rPr>
              <a:t> o </a:t>
            </a:r>
            <a:r>
              <a:rPr lang="en-US" sz="2400" err="1">
                <a:ea typeface="+mn-lt"/>
                <a:cs typeface="+mn-lt"/>
              </a:rPr>
              <a:t>processo</a:t>
            </a:r>
            <a:r>
              <a:rPr lang="en-US" sz="2400" dirty="0">
                <a:ea typeface="+mn-lt"/>
                <a:cs typeface="+mn-lt"/>
              </a:rPr>
              <a:t> de </a:t>
            </a:r>
            <a:r>
              <a:rPr lang="en-US" sz="2400" err="1">
                <a:ea typeface="+mn-lt"/>
                <a:cs typeface="+mn-lt"/>
              </a:rPr>
              <a:t>aprendizado</a:t>
            </a:r>
            <a:r>
              <a:rPr lang="en-US" sz="2400" dirty="0">
                <a:ea typeface="+mn-lt"/>
                <a:cs typeface="+mn-lt"/>
              </a:rPr>
              <a:t> </a:t>
            </a:r>
            <a:r>
              <a:rPr lang="en-US" sz="2400" err="1">
                <a:ea typeface="+mn-lt"/>
                <a:cs typeface="+mn-lt"/>
              </a:rPr>
              <a:t>em</a:t>
            </a:r>
            <a:r>
              <a:rPr lang="en-US" sz="2400" dirty="0">
                <a:ea typeface="+mn-lt"/>
                <a:cs typeface="+mn-lt"/>
              </a:rPr>
              <a:t> redes </a:t>
            </a:r>
            <a:r>
              <a:rPr lang="en-US" sz="2400" err="1">
                <a:ea typeface="+mn-lt"/>
                <a:cs typeface="+mn-lt"/>
              </a:rPr>
              <a:t>veiculares</a:t>
            </a:r>
            <a:r>
              <a:rPr lang="en-US" sz="2400" dirty="0">
                <a:ea typeface="+mn-lt"/>
                <a:cs typeface="+mn-lt"/>
              </a:rPr>
              <a:t>.</a:t>
            </a:r>
          </a:p>
        </p:txBody>
      </p:sp>
      <p:pic>
        <p:nvPicPr>
          <p:cNvPr id="6" name="Picture Placeholder 5" descr="A red button with black string&#10;&#10;AI-generated content may be incorrect.">
            <a:extLst>
              <a:ext uri="{FF2B5EF4-FFF2-40B4-BE49-F238E27FC236}">
                <a16:creationId xmlns:a16="http://schemas.microsoft.com/office/drawing/2014/main" id="{C6B248FC-E7C5-2DF5-2F97-9A8F65B4C0CD}"/>
              </a:ext>
            </a:extLst>
          </p:cNvPr>
          <p:cNvPicPr>
            <a:picLocks noGrp="1" noChangeAspect="1"/>
          </p:cNvPicPr>
          <p:nvPr>
            <p:ph type="pic" sz="quarter" idx="10"/>
          </p:nvPr>
        </p:nvPicPr>
        <p:blipFill>
          <a:blip r:embed="rId3"/>
          <a:srcRect l="10289" r="40560" b="-2"/>
          <a:stretch>
            <a:fillRect/>
          </a:stretch>
        </p:blipFill>
        <p:spPr>
          <a:xfrm>
            <a:off x="20" y="2"/>
            <a:ext cx="5049819" cy="6857998"/>
          </a:xfrm>
          <a:custGeom>
            <a:avLst/>
            <a:gdLst/>
            <a:ahLst/>
            <a:cxnLst/>
            <a:rect l="l" t="t" r="r" b="b"/>
            <a:pathLst>
              <a:path w="5049839" h="6857998">
                <a:moveTo>
                  <a:pt x="0" y="0"/>
                </a:moveTo>
                <a:lnTo>
                  <a:pt x="5049839" y="1331"/>
                </a:lnTo>
                <a:lnTo>
                  <a:pt x="3110749" y="6857998"/>
                </a:lnTo>
                <a:lnTo>
                  <a:pt x="0" y="6857998"/>
                </a:lnTo>
                <a:close/>
              </a:path>
            </a:pathLst>
          </a:custGeom>
        </p:spPr>
      </p:pic>
      <p:cxnSp>
        <p:nvCxnSpPr>
          <p:cNvPr id="29" name="Straight Connector 28">
            <a:extLst>
              <a:ext uri="{FF2B5EF4-FFF2-40B4-BE49-F238E27FC236}">
                <a16:creationId xmlns:a16="http://schemas.microsoft.com/office/drawing/2014/main" id="{C39CCDB9-9EDB-EBE7-784E-C5FEF5A4CA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845859" y="0"/>
            <a:ext cx="699247" cy="685734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6CC455D-B5BD-3FF8-6EA7-846583B4FA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210" y="5788959"/>
            <a:ext cx="7396312" cy="106904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9371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10A34275-CD0A-499C-9600-C96742FACE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1852546B-EF97-46E8-A930-3A033410668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7587" y="2720800"/>
            <a:ext cx="3470809" cy="413266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2801F4A-0A74-45E0-8E5A-65A65252A3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4540"/>
            <a:ext cx="1274412" cy="49672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D245F29-ABE7-4BB1-8164-5F4C4604B2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5257800" y="0"/>
            <a:ext cx="6926614" cy="112236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8286014" y="1122363"/>
            <a:ext cx="3316463" cy="3025308"/>
          </a:xfrm>
        </p:spPr>
        <p:txBody>
          <a:bodyPr vert="horz" lIns="91440" tIns="45720" rIns="91440" bIns="45720" rtlCol="0" anchor="b">
            <a:normAutofit/>
          </a:bodyPr>
          <a:lstStyle/>
          <a:p>
            <a:pPr algn="r"/>
            <a:r>
              <a:rPr lang="en-US" sz="3100"/>
              <a:t>Trabalhos relacionados</a:t>
            </a:r>
          </a:p>
        </p:txBody>
      </p:sp>
      <p:cxnSp>
        <p:nvCxnSpPr>
          <p:cNvPr id="31" name="Straight Connector 30">
            <a:extLst>
              <a:ext uri="{FF2B5EF4-FFF2-40B4-BE49-F238E27FC236}">
                <a16:creationId xmlns:a16="http://schemas.microsoft.com/office/drawing/2014/main" id="{CF00EEAF-0634-4EEB-81E5-9FBC2170F3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7102" y="6051582"/>
            <a:ext cx="4847312" cy="80641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3E11676-332F-449D-9A03-6CE4ED25CC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225160" y="0"/>
            <a:ext cx="3541141"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4" name="Picture 3" descr="A black and white text on a white background&#10;&#10;AI-generated content may be incorrect.">
            <a:extLst>
              <a:ext uri="{FF2B5EF4-FFF2-40B4-BE49-F238E27FC236}">
                <a16:creationId xmlns:a16="http://schemas.microsoft.com/office/drawing/2014/main" id="{63E9B478-8F54-BFDC-7A04-D3AEE3F3807B}"/>
              </a:ext>
            </a:extLst>
          </p:cNvPr>
          <p:cNvPicPr>
            <a:picLocks noChangeAspect="1"/>
          </p:cNvPicPr>
          <p:nvPr/>
        </p:nvPicPr>
        <p:blipFill>
          <a:blip r:embed="rId3"/>
          <a:stretch>
            <a:fillRect/>
          </a:stretch>
        </p:blipFill>
        <p:spPr>
          <a:xfrm>
            <a:off x="532755" y="1601637"/>
            <a:ext cx="7228091" cy="3650185"/>
          </a:xfrm>
          <a:prstGeom prst="rect">
            <a:avLst/>
          </a:prstGeom>
        </p:spPr>
      </p:pic>
    </p:spTree>
    <p:extLst>
      <p:ext uri="{BB962C8B-B14F-4D97-AF65-F5344CB8AC3E}">
        <p14:creationId xmlns:p14="http://schemas.microsoft.com/office/powerpoint/2010/main" val="837402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1143000" y="463062"/>
            <a:ext cx="9906000" cy="667049"/>
          </a:xfrm>
          <a:noFill/>
        </p:spPr>
        <p:txBody>
          <a:bodyPr/>
          <a:lstStyle/>
          <a:p>
            <a:r>
              <a:rPr lang="en-US" dirty="0" err="1"/>
              <a:t>Solução</a:t>
            </a:r>
            <a:r>
              <a:rPr lang="en-US" dirty="0"/>
              <a:t> </a:t>
            </a:r>
            <a:r>
              <a:rPr lang="en-US" dirty="0" err="1"/>
              <a:t>proposta</a:t>
            </a:r>
          </a:p>
        </p:txBody>
      </p:sp>
      <p:pic>
        <p:nvPicPr>
          <p:cNvPr id="13" name="Picture 12" descr="A white background with black text&#10;&#10;AI-generated content may be incorrect.">
            <a:extLst>
              <a:ext uri="{FF2B5EF4-FFF2-40B4-BE49-F238E27FC236}">
                <a16:creationId xmlns:a16="http://schemas.microsoft.com/office/drawing/2014/main" id="{6DF08FFD-8FCF-FA03-C221-11DF39D039B5}"/>
              </a:ext>
            </a:extLst>
          </p:cNvPr>
          <p:cNvPicPr>
            <a:picLocks noChangeAspect="1"/>
          </p:cNvPicPr>
          <p:nvPr/>
        </p:nvPicPr>
        <p:blipFill>
          <a:blip r:embed="rId3"/>
          <a:stretch>
            <a:fillRect/>
          </a:stretch>
        </p:blipFill>
        <p:spPr>
          <a:xfrm>
            <a:off x="1310787" y="1300164"/>
            <a:ext cx="7026519" cy="4468689"/>
          </a:xfrm>
          <a:prstGeom prst="rect">
            <a:avLst/>
          </a:prstGeom>
        </p:spPr>
      </p:pic>
    </p:spTree>
    <p:extLst>
      <p:ext uri="{BB962C8B-B14F-4D97-AF65-F5344CB8AC3E}">
        <p14:creationId xmlns:p14="http://schemas.microsoft.com/office/powerpoint/2010/main" val="729609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6E8543-BEDE-6298-1960-BC9E549E8420}"/>
            </a:ext>
          </a:extLst>
        </p:cNvPr>
        <p:cNvGrpSpPr/>
        <p:nvPr/>
      </p:nvGrpSpPr>
      <p:grpSpPr>
        <a:xfrm>
          <a:off x="0" y="0"/>
          <a:ext cx="0" cy="0"/>
          <a:chOff x="0" y="0"/>
          <a:chExt cx="0" cy="0"/>
        </a:xfrm>
      </p:grpSpPr>
      <p:cxnSp>
        <p:nvCxnSpPr>
          <p:cNvPr id="138" name="Straight Connector 137">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152" name="Rectangle 151">
            <a:extLst>
              <a:ext uri="{FF2B5EF4-FFF2-40B4-BE49-F238E27FC236}">
                <a16:creationId xmlns:a16="http://schemas.microsoft.com/office/drawing/2014/main" id="{2B78D151-52A1-46B3-8374-570DA802E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4" name="Straight Connector 153">
            <a:extLst>
              <a:ext uri="{FF2B5EF4-FFF2-40B4-BE49-F238E27FC236}">
                <a16:creationId xmlns:a16="http://schemas.microsoft.com/office/drawing/2014/main" id="{5D9BE00C-69E3-4C14-B043-39A0CBD94C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7660371" cy="92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417168A6-F6FD-4D49-BD0E-99C81A86E9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10457"/>
            <a:ext cx="1143001" cy="504648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1A04535-4AA2-824F-8240-D19795184A6B}"/>
              </a:ext>
            </a:extLst>
          </p:cNvPr>
          <p:cNvSpPr>
            <a:spLocks noGrp="1"/>
          </p:cNvSpPr>
          <p:nvPr>
            <p:ph type="title"/>
          </p:nvPr>
        </p:nvSpPr>
        <p:spPr>
          <a:xfrm>
            <a:off x="963061" y="841008"/>
            <a:ext cx="7331987" cy="879986"/>
          </a:xfrm>
        </p:spPr>
        <p:txBody>
          <a:bodyPr vert="horz" lIns="91440" tIns="45720" rIns="91440" bIns="45720" rtlCol="0" anchor="b">
            <a:normAutofit/>
          </a:bodyPr>
          <a:lstStyle/>
          <a:p>
            <a:r>
              <a:rPr lang="en-US" sz="4400" i="1" kern="1200" cap="all" baseline="0" dirty="0">
                <a:latin typeface="+mj-lt"/>
                <a:ea typeface="+mj-ea"/>
                <a:cs typeface="+mj-cs"/>
              </a:rPr>
              <a:t>Solução proposta</a:t>
            </a:r>
          </a:p>
        </p:txBody>
      </p:sp>
      <p:cxnSp>
        <p:nvCxnSpPr>
          <p:cNvPr id="158" name="Straight Connector 157">
            <a:extLst>
              <a:ext uri="{FF2B5EF4-FFF2-40B4-BE49-F238E27FC236}">
                <a16:creationId xmlns:a16="http://schemas.microsoft.com/office/drawing/2014/main" id="{2703D87C-41E4-40AE-98D9-D2E31F361C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502104" y="4608334"/>
            <a:ext cx="3689896" cy="2249666"/>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1D7B624A-E438-43AA-99EF-F2FF3D6A97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028123" y="0"/>
            <a:ext cx="1348638"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A screenshot of a computer&#10;&#10;AI-generated content may be incorrect.">
            <a:extLst>
              <a:ext uri="{FF2B5EF4-FFF2-40B4-BE49-F238E27FC236}">
                <a16:creationId xmlns:a16="http://schemas.microsoft.com/office/drawing/2014/main" id="{6DBEA39B-53CF-020F-0C4F-0DD18072AEB1}"/>
              </a:ext>
            </a:extLst>
          </p:cNvPr>
          <p:cNvPicPr>
            <a:picLocks noChangeAspect="1"/>
          </p:cNvPicPr>
          <p:nvPr/>
        </p:nvPicPr>
        <p:blipFill>
          <a:blip r:embed="rId3"/>
          <a:stretch>
            <a:fillRect/>
          </a:stretch>
        </p:blipFill>
        <p:spPr>
          <a:xfrm>
            <a:off x="1207843" y="1716698"/>
            <a:ext cx="6306283" cy="2838450"/>
          </a:xfrm>
          <a:prstGeom prst="rect">
            <a:avLst/>
          </a:prstGeom>
        </p:spPr>
      </p:pic>
      <p:pic>
        <p:nvPicPr>
          <p:cNvPr id="8" name="Picture 7" descr="A diagram of a layer of neural network&#10;&#10;AI-generated content may be incorrect.">
            <a:extLst>
              <a:ext uri="{FF2B5EF4-FFF2-40B4-BE49-F238E27FC236}">
                <a16:creationId xmlns:a16="http://schemas.microsoft.com/office/drawing/2014/main" id="{BF61EB3E-97BF-42AD-109C-CC8EF3828ACF}"/>
              </a:ext>
            </a:extLst>
          </p:cNvPr>
          <p:cNvPicPr>
            <a:picLocks noChangeAspect="1"/>
          </p:cNvPicPr>
          <p:nvPr/>
        </p:nvPicPr>
        <p:blipFill>
          <a:blip r:embed="rId4"/>
          <a:stretch>
            <a:fillRect/>
          </a:stretch>
        </p:blipFill>
        <p:spPr>
          <a:xfrm>
            <a:off x="7503352" y="4062048"/>
            <a:ext cx="4358377" cy="2640947"/>
          </a:xfrm>
          <a:prstGeom prst="rect">
            <a:avLst/>
          </a:prstGeom>
        </p:spPr>
      </p:pic>
    </p:spTree>
    <p:extLst>
      <p:ext uri="{BB962C8B-B14F-4D97-AF65-F5344CB8AC3E}">
        <p14:creationId xmlns:p14="http://schemas.microsoft.com/office/powerpoint/2010/main" val="1098703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00DE7-44CB-4C0C-3BDF-CEC8A08050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853098-640D-A99E-438F-6A08FB85FB5F}"/>
              </a:ext>
            </a:extLst>
          </p:cNvPr>
          <p:cNvSpPr>
            <a:spLocks noGrp="1"/>
          </p:cNvSpPr>
          <p:nvPr>
            <p:ph type="title"/>
          </p:nvPr>
        </p:nvSpPr>
        <p:spPr>
          <a:xfrm>
            <a:off x="1143000" y="463062"/>
            <a:ext cx="9906000" cy="667049"/>
          </a:xfrm>
          <a:noFill/>
        </p:spPr>
        <p:txBody>
          <a:bodyPr/>
          <a:lstStyle/>
          <a:p>
            <a:r>
              <a:rPr lang="en-US" dirty="0" err="1"/>
              <a:t>Solução</a:t>
            </a:r>
            <a:r>
              <a:rPr lang="en-US" dirty="0"/>
              <a:t> </a:t>
            </a:r>
            <a:r>
              <a:rPr lang="en-US" dirty="0" err="1"/>
              <a:t>proposta</a:t>
            </a:r>
          </a:p>
        </p:txBody>
      </p:sp>
      <p:pic>
        <p:nvPicPr>
          <p:cNvPr id="3" name="Picture 2" descr="A black text on a white background&#10;&#10;AI-generated content may be incorrect.">
            <a:extLst>
              <a:ext uri="{FF2B5EF4-FFF2-40B4-BE49-F238E27FC236}">
                <a16:creationId xmlns:a16="http://schemas.microsoft.com/office/drawing/2014/main" id="{69C2D793-09F2-212F-7BEC-56AA119558E1}"/>
              </a:ext>
            </a:extLst>
          </p:cNvPr>
          <p:cNvPicPr>
            <a:picLocks noChangeAspect="1"/>
          </p:cNvPicPr>
          <p:nvPr/>
        </p:nvPicPr>
        <p:blipFill>
          <a:blip r:embed="rId3"/>
          <a:stretch>
            <a:fillRect/>
          </a:stretch>
        </p:blipFill>
        <p:spPr>
          <a:xfrm>
            <a:off x="1137871" y="1735748"/>
            <a:ext cx="9728689" cy="3386504"/>
          </a:xfrm>
          <a:prstGeom prst="rect">
            <a:avLst/>
          </a:prstGeom>
        </p:spPr>
      </p:pic>
    </p:spTree>
    <p:extLst>
      <p:ext uri="{BB962C8B-B14F-4D97-AF65-F5344CB8AC3E}">
        <p14:creationId xmlns:p14="http://schemas.microsoft.com/office/powerpoint/2010/main" val="1500482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82281-6B8F-2F8D-222B-1B9801EE74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7455D5-5CC6-F02D-94E5-AA0E63CDCC2C}"/>
              </a:ext>
            </a:extLst>
          </p:cNvPr>
          <p:cNvSpPr>
            <a:spLocks noGrp="1"/>
          </p:cNvSpPr>
          <p:nvPr>
            <p:ph type="title"/>
          </p:nvPr>
        </p:nvSpPr>
        <p:spPr>
          <a:xfrm>
            <a:off x="1143000" y="463062"/>
            <a:ext cx="9906000" cy="667049"/>
          </a:xfrm>
          <a:noFill/>
        </p:spPr>
        <p:txBody>
          <a:bodyPr/>
          <a:lstStyle/>
          <a:p>
            <a:r>
              <a:rPr lang="en-US" dirty="0" err="1"/>
              <a:t>Solução</a:t>
            </a:r>
            <a:r>
              <a:rPr lang="en-US" dirty="0"/>
              <a:t> </a:t>
            </a:r>
            <a:r>
              <a:rPr lang="en-US" dirty="0" err="1"/>
              <a:t>proposta</a:t>
            </a:r>
          </a:p>
        </p:txBody>
      </p:sp>
      <p:pic>
        <p:nvPicPr>
          <p:cNvPr id="4" name="Picture 3" descr="A grid of lines with dots and circles&#10;&#10;AI-generated content may be incorrect.">
            <a:extLst>
              <a:ext uri="{FF2B5EF4-FFF2-40B4-BE49-F238E27FC236}">
                <a16:creationId xmlns:a16="http://schemas.microsoft.com/office/drawing/2014/main" id="{F70DF382-7752-6312-FEF4-5CECD7E49B92}"/>
              </a:ext>
            </a:extLst>
          </p:cNvPr>
          <p:cNvPicPr>
            <a:picLocks noChangeAspect="1"/>
          </p:cNvPicPr>
          <p:nvPr/>
        </p:nvPicPr>
        <p:blipFill>
          <a:blip r:embed="rId3"/>
          <a:stretch>
            <a:fillRect/>
          </a:stretch>
        </p:blipFill>
        <p:spPr>
          <a:xfrm>
            <a:off x="5843587" y="1124682"/>
            <a:ext cx="4127256" cy="4878266"/>
          </a:xfrm>
          <a:prstGeom prst="rect">
            <a:avLst/>
          </a:prstGeom>
        </p:spPr>
      </p:pic>
      <p:pic>
        <p:nvPicPr>
          <p:cNvPr id="5" name="Picture 4" descr="A math equations on a white background&#10;&#10;AI-generated content may be incorrect.">
            <a:extLst>
              <a:ext uri="{FF2B5EF4-FFF2-40B4-BE49-F238E27FC236}">
                <a16:creationId xmlns:a16="http://schemas.microsoft.com/office/drawing/2014/main" id="{0797EB79-4D4C-B125-6044-802AA9694B20}"/>
              </a:ext>
            </a:extLst>
          </p:cNvPr>
          <p:cNvPicPr>
            <a:picLocks noChangeAspect="1"/>
          </p:cNvPicPr>
          <p:nvPr/>
        </p:nvPicPr>
        <p:blipFill>
          <a:blip r:embed="rId4"/>
          <a:stretch>
            <a:fillRect/>
          </a:stretch>
        </p:blipFill>
        <p:spPr>
          <a:xfrm>
            <a:off x="1175238" y="2794122"/>
            <a:ext cx="3745523" cy="1527663"/>
          </a:xfrm>
          <a:prstGeom prst="rect">
            <a:avLst/>
          </a:prstGeom>
        </p:spPr>
      </p:pic>
    </p:spTree>
    <p:extLst>
      <p:ext uri="{BB962C8B-B14F-4D97-AF65-F5344CB8AC3E}">
        <p14:creationId xmlns:p14="http://schemas.microsoft.com/office/powerpoint/2010/main" val="2519690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3F2B47-FE0D-98CC-A1B6-451934303F2E}"/>
            </a:ext>
          </a:extLst>
        </p:cNvPr>
        <p:cNvGrpSpPr/>
        <p:nvPr/>
      </p:nvGrpSpPr>
      <p:grpSpPr>
        <a:xfrm>
          <a:off x="0" y="0"/>
          <a:ext cx="0" cy="0"/>
          <a:chOff x="0" y="0"/>
          <a:chExt cx="0" cy="0"/>
        </a:xfrm>
      </p:grpSpPr>
      <p:cxnSp>
        <p:nvCxnSpPr>
          <p:cNvPr id="59" name="Straight Connector 58">
            <a:extLst>
              <a:ext uri="{FF2B5EF4-FFF2-40B4-BE49-F238E27FC236}">
                <a16:creationId xmlns:a16="http://schemas.microsoft.com/office/drawing/2014/main" id="{154BEF80-C15C-BDA2-3972-4C01FEC2959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84555C1-BCA8-BFEF-8FB4-C1B0A155D99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C3FA3AB-4A4B-64B4-6E92-B68080A0CC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A8EB398D-51E6-BD52-F048-A15EAA6D1C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72E9D6D-3D5B-181A-39F7-A6E2D1A02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6437854-409A-12DD-7DBC-DE7C3EAAFA9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CB717A87-A240-1430-4235-2115798F73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73" name="Rectangle 72">
            <a:extLst>
              <a:ext uri="{FF2B5EF4-FFF2-40B4-BE49-F238E27FC236}">
                <a16:creationId xmlns:a16="http://schemas.microsoft.com/office/drawing/2014/main" id="{2393284D-C48D-9AD1-6690-270B3C7A8D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Shape 74">
            <a:extLst>
              <a:ext uri="{FF2B5EF4-FFF2-40B4-BE49-F238E27FC236}">
                <a16:creationId xmlns:a16="http://schemas.microsoft.com/office/drawing/2014/main" id="{C48638F7-97CB-5EEB-6198-B3BFEC40D8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6244921" y="-5976"/>
            <a:ext cx="5947079" cy="6874927"/>
          </a:xfrm>
          <a:custGeom>
            <a:avLst/>
            <a:gdLst>
              <a:gd name="connsiteX0" fmla="*/ 0 w 4584879"/>
              <a:gd name="connsiteY0" fmla="*/ 0 h 6863976"/>
              <a:gd name="connsiteX1" fmla="*/ 4584879 w 4584879"/>
              <a:gd name="connsiteY1" fmla="*/ 0 h 6863976"/>
              <a:gd name="connsiteX2" fmla="*/ 2493114 w 4584879"/>
              <a:gd name="connsiteY2" fmla="*/ 6863976 h 6863976"/>
              <a:gd name="connsiteX3" fmla="*/ 0 w 4584879"/>
              <a:gd name="connsiteY3" fmla="*/ 6863976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677452 w 4584879"/>
              <a:gd name="connsiteY2" fmla="*/ 6853025 h 6863976"/>
              <a:gd name="connsiteX3" fmla="*/ 0 w 4584879"/>
              <a:gd name="connsiteY3" fmla="*/ 6863976 h 6863976"/>
              <a:gd name="connsiteX4" fmla="*/ 0 w 4584879"/>
              <a:gd name="connsiteY4" fmla="*/ 0 h 6863976"/>
              <a:gd name="connsiteX0" fmla="*/ 0 w 4584879"/>
              <a:gd name="connsiteY0" fmla="*/ 0 h 6874927"/>
              <a:gd name="connsiteX1" fmla="*/ 4584879 w 4584879"/>
              <a:gd name="connsiteY1" fmla="*/ 0 h 6874927"/>
              <a:gd name="connsiteX2" fmla="*/ 3693787 w 4584879"/>
              <a:gd name="connsiteY2" fmla="*/ 6874927 h 6874927"/>
              <a:gd name="connsiteX3" fmla="*/ 0 w 4584879"/>
              <a:gd name="connsiteY3" fmla="*/ 6863976 h 6874927"/>
              <a:gd name="connsiteX4" fmla="*/ 0 w 4584879"/>
              <a:gd name="connsiteY4" fmla="*/ 0 h 6874927"/>
              <a:gd name="connsiteX0" fmla="*/ 0 w 4584879"/>
              <a:gd name="connsiteY0" fmla="*/ 0 h 6874927"/>
              <a:gd name="connsiteX1" fmla="*/ 4584879 w 4584879"/>
              <a:gd name="connsiteY1" fmla="*/ 0 h 6874927"/>
              <a:gd name="connsiteX2" fmla="*/ 3842978 w 4584879"/>
              <a:gd name="connsiteY2" fmla="*/ 6874927 h 6874927"/>
              <a:gd name="connsiteX3" fmla="*/ 0 w 4584879"/>
              <a:gd name="connsiteY3" fmla="*/ 6863976 h 6874927"/>
              <a:gd name="connsiteX4" fmla="*/ 0 w 4584879"/>
              <a:gd name="connsiteY4" fmla="*/ 0 h 6874927"/>
              <a:gd name="connsiteX0" fmla="*/ 0 w 4435688"/>
              <a:gd name="connsiteY0" fmla="*/ 0 h 6874927"/>
              <a:gd name="connsiteX1" fmla="*/ 4435688 w 4435688"/>
              <a:gd name="connsiteY1" fmla="*/ 4763 h 6874927"/>
              <a:gd name="connsiteX2" fmla="*/ 3842978 w 4435688"/>
              <a:gd name="connsiteY2" fmla="*/ 6874927 h 6874927"/>
              <a:gd name="connsiteX3" fmla="*/ 0 w 4435688"/>
              <a:gd name="connsiteY3" fmla="*/ 6863976 h 6874927"/>
              <a:gd name="connsiteX4" fmla="*/ 0 w 4435688"/>
              <a:gd name="connsiteY4" fmla="*/ 0 h 6874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5688" h="6874927">
                <a:moveTo>
                  <a:pt x="0" y="0"/>
                </a:moveTo>
                <a:lnTo>
                  <a:pt x="4435688" y="4763"/>
                </a:lnTo>
                <a:lnTo>
                  <a:pt x="3842978" y="6874927"/>
                </a:lnTo>
                <a:lnTo>
                  <a:pt x="0" y="6863976"/>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5120936-01D4-9492-A7A1-E97EA75FC6A3}"/>
              </a:ext>
            </a:extLst>
          </p:cNvPr>
          <p:cNvSpPr>
            <a:spLocks noGrp="1"/>
          </p:cNvSpPr>
          <p:nvPr>
            <p:ph type="title"/>
          </p:nvPr>
        </p:nvSpPr>
        <p:spPr>
          <a:xfrm>
            <a:off x="7218705" y="542926"/>
            <a:ext cx="4439894" cy="1668143"/>
          </a:xfrm>
        </p:spPr>
        <p:txBody>
          <a:bodyPr vert="horz" lIns="91440" tIns="45720" rIns="91440" bIns="45720" rtlCol="0" anchor="ctr">
            <a:normAutofit/>
          </a:bodyPr>
          <a:lstStyle/>
          <a:p>
            <a:r>
              <a:rPr lang="en-US" sz="4400" dirty="0" err="1"/>
              <a:t>Resultados</a:t>
            </a:r>
          </a:p>
        </p:txBody>
      </p:sp>
      <p:cxnSp>
        <p:nvCxnSpPr>
          <p:cNvPr id="77" name="Straight Connector 76">
            <a:extLst>
              <a:ext uri="{FF2B5EF4-FFF2-40B4-BE49-F238E27FC236}">
                <a16:creationId xmlns:a16="http://schemas.microsoft.com/office/drawing/2014/main" id="{6DCB9897-CC7B-36F8-8168-3043DE3B5B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43268" y="0"/>
            <a:ext cx="488370" cy="688040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24634D6-40CD-F279-1DEB-1C3DD95E7C5D}"/>
              </a:ext>
            </a:extLst>
          </p:cNvPr>
          <p:cNvSpPr>
            <a:spLocks noGrp="1"/>
          </p:cNvSpPr>
          <p:nvPr>
            <p:ph sz="half" idx="2"/>
          </p:nvPr>
        </p:nvSpPr>
        <p:spPr>
          <a:xfrm>
            <a:off x="7218706" y="1953161"/>
            <a:ext cx="4639186" cy="4125254"/>
          </a:xfrm>
        </p:spPr>
        <p:txBody>
          <a:bodyPr vert="horz" lIns="91440" tIns="45720" rIns="91440" bIns="45720" rtlCol="0" anchor="t">
            <a:noAutofit/>
          </a:bodyPr>
          <a:lstStyle/>
          <a:p>
            <a:r>
              <a:rPr lang="en-US" sz="2400" err="1">
                <a:ea typeface="+mn-lt"/>
                <a:cs typeface="+mn-lt"/>
              </a:rPr>
              <a:t>Inicialmente</a:t>
            </a:r>
            <a:r>
              <a:rPr lang="en-US" sz="2400" dirty="0">
                <a:ea typeface="+mn-lt"/>
                <a:cs typeface="+mn-lt"/>
              </a:rPr>
              <a:t>, o </a:t>
            </a:r>
            <a:r>
              <a:rPr lang="en-US" sz="2400" err="1">
                <a:ea typeface="+mn-lt"/>
                <a:cs typeface="+mn-lt"/>
              </a:rPr>
              <a:t>agente</a:t>
            </a:r>
            <a:r>
              <a:rPr lang="en-US" sz="2400" dirty="0">
                <a:ea typeface="+mn-lt"/>
                <a:cs typeface="+mn-lt"/>
              </a:rPr>
              <a:t> </a:t>
            </a:r>
            <a:r>
              <a:rPr lang="en-US" sz="2400" err="1">
                <a:ea typeface="+mn-lt"/>
                <a:cs typeface="+mn-lt"/>
              </a:rPr>
              <a:t>apresenta</a:t>
            </a:r>
            <a:r>
              <a:rPr lang="en-US" sz="2400" dirty="0">
                <a:ea typeface="+mn-lt"/>
                <a:cs typeface="+mn-lt"/>
              </a:rPr>
              <a:t> </a:t>
            </a:r>
            <a:r>
              <a:rPr lang="en-US" sz="2400" b="1" err="1">
                <a:ea typeface="+mn-lt"/>
                <a:cs typeface="+mn-lt"/>
              </a:rPr>
              <a:t>recompensas</a:t>
            </a:r>
            <a:r>
              <a:rPr lang="en-US" sz="2400" b="1" dirty="0">
                <a:ea typeface="+mn-lt"/>
                <a:cs typeface="+mn-lt"/>
              </a:rPr>
              <a:t> </a:t>
            </a:r>
            <a:r>
              <a:rPr lang="en-US" sz="2400" b="1" err="1">
                <a:ea typeface="+mn-lt"/>
                <a:cs typeface="+mn-lt"/>
              </a:rPr>
              <a:t>baixas</a:t>
            </a:r>
            <a:r>
              <a:rPr lang="en-US" sz="2400" b="1" dirty="0">
                <a:ea typeface="+mn-lt"/>
                <a:cs typeface="+mn-lt"/>
              </a:rPr>
              <a:t> </a:t>
            </a:r>
            <a:r>
              <a:rPr lang="en-US" sz="2400" b="1" err="1">
                <a:ea typeface="+mn-lt"/>
                <a:cs typeface="+mn-lt"/>
              </a:rPr>
              <a:t>ou</a:t>
            </a:r>
            <a:r>
              <a:rPr lang="en-US" sz="2400" b="1" dirty="0">
                <a:ea typeface="+mn-lt"/>
                <a:cs typeface="+mn-lt"/>
              </a:rPr>
              <a:t> </a:t>
            </a:r>
            <a:r>
              <a:rPr lang="en-US" sz="2400" b="1" err="1">
                <a:ea typeface="+mn-lt"/>
                <a:cs typeface="+mn-lt"/>
              </a:rPr>
              <a:t>negativas</a:t>
            </a:r>
            <a:r>
              <a:rPr lang="en-US" sz="2400" dirty="0">
                <a:ea typeface="+mn-lt"/>
                <a:cs typeface="+mn-lt"/>
              </a:rPr>
              <a:t> </a:t>
            </a:r>
            <a:r>
              <a:rPr lang="en-US" sz="2400" err="1">
                <a:ea typeface="+mn-lt"/>
                <a:cs typeface="+mn-lt"/>
              </a:rPr>
              <a:t>devido</a:t>
            </a:r>
            <a:r>
              <a:rPr lang="en-US" sz="2400" dirty="0">
                <a:ea typeface="+mn-lt"/>
                <a:cs typeface="+mn-lt"/>
              </a:rPr>
              <a:t> à </a:t>
            </a:r>
            <a:r>
              <a:rPr lang="en-US" sz="2400" err="1">
                <a:ea typeface="+mn-lt"/>
                <a:cs typeface="+mn-lt"/>
              </a:rPr>
              <a:t>alta</a:t>
            </a:r>
            <a:r>
              <a:rPr lang="en-US" sz="2400" dirty="0">
                <a:ea typeface="+mn-lt"/>
                <a:cs typeface="+mn-lt"/>
              </a:rPr>
              <a:t> taxa de </a:t>
            </a:r>
            <a:r>
              <a:rPr lang="en-US" sz="2400" err="1">
                <a:ea typeface="+mn-lt"/>
                <a:cs typeface="+mn-lt"/>
              </a:rPr>
              <a:t>exploração</a:t>
            </a:r>
            <a:r>
              <a:rPr lang="en-US" sz="2400">
                <a:ea typeface="+mn-lt"/>
                <a:cs typeface="+mn-lt"/>
              </a:rPr>
              <a:t>         </a:t>
            </a:r>
            <a:r>
              <a:rPr lang="en-US" sz="2400" dirty="0">
                <a:ea typeface="+mn-lt"/>
                <a:cs typeface="+mn-lt"/>
              </a:rPr>
              <a:t> (</a:t>
            </a:r>
            <a:r>
              <a:rPr lang="en-US" sz="2400" b="1" dirty="0">
                <a:ea typeface="+mn-lt"/>
                <a:cs typeface="+mn-lt"/>
              </a:rPr>
              <a:t>ε ≈ 1,0</a:t>
            </a:r>
            <a:r>
              <a:rPr lang="en-US" sz="2400" dirty="0">
                <a:ea typeface="+mn-lt"/>
                <a:cs typeface="+mn-lt"/>
              </a:rPr>
              <a:t>);</a:t>
            </a:r>
            <a:endParaRPr lang="en-US" sz="2400"/>
          </a:p>
          <a:p>
            <a:r>
              <a:rPr lang="en-US" sz="2400" dirty="0">
                <a:ea typeface="+mn-lt"/>
                <a:cs typeface="+mn-lt"/>
              </a:rPr>
              <a:t>À </a:t>
            </a:r>
            <a:r>
              <a:rPr lang="en-US" sz="2400" dirty="0" err="1">
                <a:ea typeface="+mn-lt"/>
                <a:cs typeface="+mn-lt"/>
              </a:rPr>
              <a:t>medida</a:t>
            </a:r>
            <a:r>
              <a:rPr lang="en-US" sz="2400" dirty="0">
                <a:ea typeface="+mn-lt"/>
                <a:cs typeface="+mn-lt"/>
              </a:rPr>
              <a:t> </a:t>
            </a:r>
            <a:r>
              <a:rPr lang="en-US" sz="2400" dirty="0" err="1">
                <a:ea typeface="+mn-lt"/>
                <a:cs typeface="+mn-lt"/>
              </a:rPr>
              <a:t>que</a:t>
            </a:r>
            <a:r>
              <a:rPr lang="en-US" sz="2400" dirty="0">
                <a:ea typeface="+mn-lt"/>
                <a:cs typeface="+mn-lt"/>
              </a:rPr>
              <a:t> o </a:t>
            </a:r>
            <a:r>
              <a:rPr lang="en-US" sz="2400" dirty="0" err="1">
                <a:ea typeface="+mn-lt"/>
                <a:cs typeface="+mn-lt"/>
              </a:rPr>
              <a:t>treinamento</a:t>
            </a:r>
            <a:r>
              <a:rPr lang="en-US" sz="2400" dirty="0">
                <a:ea typeface="+mn-lt"/>
                <a:cs typeface="+mn-lt"/>
              </a:rPr>
              <a:t> </a:t>
            </a:r>
            <a:r>
              <a:rPr lang="en-US" sz="2400" dirty="0" err="1">
                <a:ea typeface="+mn-lt"/>
                <a:cs typeface="+mn-lt"/>
              </a:rPr>
              <a:t>avança</a:t>
            </a:r>
            <a:r>
              <a:rPr lang="en-US" sz="2400" dirty="0">
                <a:ea typeface="+mn-lt"/>
                <a:cs typeface="+mn-lt"/>
              </a:rPr>
              <a:t>, o valor de </a:t>
            </a:r>
            <a:r>
              <a:rPr lang="en-US" sz="2400" b="1" dirty="0">
                <a:ea typeface="+mn-lt"/>
                <a:cs typeface="+mn-lt"/>
              </a:rPr>
              <a:t>ε </a:t>
            </a:r>
            <a:r>
              <a:rPr lang="en-US" sz="2400" b="1" dirty="0" err="1">
                <a:ea typeface="+mn-lt"/>
                <a:cs typeface="+mn-lt"/>
              </a:rPr>
              <a:t>diminui</a:t>
            </a:r>
            <a:r>
              <a:rPr lang="en-US" sz="2400" dirty="0">
                <a:ea typeface="+mn-lt"/>
                <a:cs typeface="+mn-lt"/>
              </a:rPr>
              <a:t>, </a:t>
            </a:r>
            <a:r>
              <a:rPr lang="en-US" sz="2400" dirty="0" err="1">
                <a:ea typeface="+mn-lt"/>
                <a:cs typeface="+mn-lt"/>
              </a:rPr>
              <a:t>reduzindo</a:t>
            </a:r>
            <a:r>
              <a:rPr lang="en-US" sz="2400" dirty="0">
                <a:ea typeface="+mn-lt"/>
                <a:cs typeface="+mn-lt"/>
              </a:rPr>
              <a:t> a </a:t>
            </a:r>
            <a:r>
              <a:rPr lang="en-US" sz="2400" dirty="0" err="1">
                <a:ea typeface="+mn-lt"/>
                <a:cs typeface="+mn-lt"/>
              </a:rPr>
              <a:t>aleatoriedade</a:t>
            </a:r>
            <a:r>
              <a:rPr lang="en-US" sz="2400" dirty="0">
                <a:ea typeface="+mn-lt"/>
                <a:cs typeface="+mn-lt"/>
              </a:rPr>
              <a:t> das </a:t>
            </a:r>
            <a:r>
              <a:rPr lang="en-US" sz="2400" dirty="0" err="1">
                <a:ea typeface="+mn-lt"/>
                <a:cs typeface="+mn-lt"/>
              </a:rPr>
              <a:t>ações</a:t>
            </a:r>
            <a:r>
              <a:rPr lang="en-US" sz="2400" dirty="0">
                <a:ea typeface="+mn-lt"/>
                <a:cs typeface="+mn-lt"/>
              </a:rPr>
              <a:t>;</a:t>
            </a:r>
            <a:endParaRPr lang="en-US" sz="2400"/>
          </a:p>
          <a:p>
            <a:r>
              <a:rPr lang="en-US" sz="2400" dirty="0">
                <a:ea typeface="+mn-lt"/>
                <a:cs typeface="+mn-lt"/>
              </a:rPr>
              <a:t>O </a:t>
            </a:r>
            <a:r>
              <a:rPr lang="en-US" sz="2400" dirty="0" err="1">
                <a:ea typeface="+mn-lt"/>
                <a:cs typeface="+mn-lt"/>
              </a:rPr>
              <a:t>agente</a:t>
            </a:r>
            <a:r>
              <a:rPr lang="en-US" sz="2400" dirty="0">
                <a:ea typeface="+mn-lt"/>
                <a:cs typeface="+mn-lt"/>
              </a:rPr>
              <a:t> </a:t>
            </a:r>
            <a:r>
              <a:rPr lang="en-US" sz="2400" dirty="0" err="1">
                <a:ea typeface="+mn-lt"/>
                <a:cs typeface="+mn-lt"/>
              </a:rPr>
              <a:t>passa</a:t>
            </a:r>
            <a:r>
              <a:rPr lang="en-US" sz="2400" dirty="0">
                <a:ea typeface="+mn-lt"/>
                <a:cs typeface="+mn-lt"/>
              </a:rPr>
              <a:t> a </a:t>
            </a:r>
            <a:r>
              <a:rPr lang="en-US" sz="2400" b="1" dirty="0" err="1">
                <a:ea typeface="+mn-lt"/>
                <a:cs typeface="+mn-lt"/>
              </a:rPr>
              <a:t>explorar</a:t>
            </a:r>
            <a:r>
              <a:rPr lang="en-US" sz="2400" b="1" dirty="0">
                <a:ea typeface="+mn-lt"/>
                <a:cs typeface="+mn-lt"/>
              </a:rPr>
              <a:t> o </a:t>
            </a:r>
            <a:r>
              <a:rPr lang="en-US" sz="2400" b="1" dirty="0" err="1">
                <a:ea typeface="+mn-lt"/>
                <a:cs typeface="+mn-lt"/>
              </a:rPr>
              <a:t>conhecimento</a:t>
            </a:r>
            <a:r>
              <a:rPr lang="en-US" sz="2400" b="1" dirty="0">
                <a:ea typeface="+mn-lt"/>
                <a:cs typeface="+mn-lt"/>
              </a:rPr>
              <a:t> </a:t>
            </a:r>
            <a:r>
              <a:rPr lang="en-US" sz="2400" b="1" dirty="0" err="1">
                <a:ea typeface="+mn-lt"/>
                <a:cs typeface="+mn-lt"/>
              </a:rPr>
              <a:t>adquirido</a:t>
            </a:r>
            <a:r>
              <a:rPr lang="en-US" sz="2400" dirty="0">
                <a:ea typeface="+mn-lt"/>
                <a:cs typeface="+mn-lt"/>
              </a:rPr>
              <a:t>, </a:t>
            </a:r>
            <a:r>
              <a:rPr lang="en-US" sz="2400" dirty="0" err="1">
                <a:ea typeface="+mn-lt"/>
                <a:cs typeface="+mn-lt"/>
              </a:rPr>
              <a:t>resultando</a:t>
            </a:r>
            <a:r>
              <a:rPr lang="en-US" sz="2400" dirty="0">
                <a:ea typeface="+mn-lt"/>
                <a:cs typeface="+mn-lt"/>
              </a:rPr>
              <a:t> </a:t>
            </a:r>
            <a:r>
              <a:rPr lang="en-US" sz="2400" dirty="0" err="1">
                <a:ea typeface="+mn-lt"/>
                <a:cs typeface="+mn-lt"/>
              </a:rPr>
              <a:t>em</a:t>
            </a:r>
            <a:r>
              <a:rPr lang="en-US" sz="2400" dirty="0">
                <a:ea typeface="+mn-lt"/>
                <a:cs typeface="+mn-lt"/>
              </a:rPr>
              <a:t> </a:t>
            </a:r>
            <a:r>
              <a:rPr lang="en-US" sz="2400" dirty="0" err="1">
                <a:ea typeface="+mn-lt"/>
                <a:cs typeface="+mn-lt"/>
              </a:rPr>
              <a:t>aumento</a:t>
            </a:r>
            <a:r>
              <a:rPr lang="en-US" sz="2400" dirty="0">
                <a:ea typeface="+mn-lt"/>
                <a:cs typeface="+mn-lt"/>
              </a:rPr>
              <a:t> gradual das recompensas;</a:t>
            </a:r>
            <a:endParaRPr lang="en-US" sz="2400" dirty="0"/>
          </a:p>
        </p:txBody>
      </p:sp>
      <p:pic>
        <p:nvPicPr>
          <p:cNvPr id="6" name="Picture 5" descr="A graph with numbers and lines&#10;&#10;AI-generated content may be incorrect.">
            <a:extLst>
              <a:ext uri="{FF2B5EF4-FFF2-40B4-BE49-F238E27FC236}">
                <a16:creationId xmlns:a16="http://schemas.microsoft.com/office/drawing/2014/main" id="{758CAE31-CFD1-2061-63C0-6F2AD9052369}"/>
              </a:ext>
            </a:extLst>
          </p:cNvPr>
          <p:cNvPicPr>
            <a:picLocks noChangeAspect="1"/>
          </p:cNvPicPr>
          <p:nvPr/>
        </p:nvPicPr>
        <p:blipFill>
          <a:blip r:embed="rId3"/>
          <a:stretch>
            <a:fillRect/>
          </a:stretch>
        </p:blipFill>
        <p:spPr>
          <a:xfrm>
            <a:off x="153865" y="1948595"/>
            <a:ext cx="6104793" cy="2972534"/>
          </a:xfrm>
          <a:prstGeom prst="rect">
            <a:avLst/>
          </a:prstGeom>
        </p:spPr>
      </p:pic>
    </p:spTree>
    <p:extLst>
      <p:ext uri="{BB962C8B-B14F-4D97-AF65-F5344CB8AC3E}">
        <p14:creationId xmlns:p14="http://schemas.microsoft.com/office/powerpoint/2010/main" val="522269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674583-96F1-41B1-1669-8B1AB0C205AA}"/>
            </a:ext>
          </a:extLst>
        </p:cNvPr>
        <p:cNvGrpSpPr/>
        <p:nvPr/>
      </p:nvGrpSpPr>
      <p:grpSpPr>
        <a:xfrm>
          <a:off x="0" y="0"/>
          <a:ext cx="0" cy="0"/>
          <a:chOff x="0" y="0"/>
          <a:chExt cx="0" cy="0"/>
        </a:xfrm>
      </p:grpSpPr>
      <p:cxnSp>
        <p:nvCxnSpPr>
          <p:cNvPr id="59" name="Straight Connector 58">
            <a:extLst>
              <a:ext uri="{FF2B5EF4-FFF2-40B4-BE49-F238E27FC236}">
                <a16:creationId xmlns:a16="http://schemas.microsoft.com/office/drawing/2014/main" id="{42396654-3402-91B2-CDFF-EEE3DCF10A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5D1E31D-B323-367C-E2D7-7DDF98D434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F1133645-F8B1-D930-41BB-76F29571D2E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BC77181-A78F-0C6E-1AD0-62D79A70F0D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FC9B71D-05BC-8DD6-1B92-CAA9EA60F9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E349F1C-E0EA-E0DF-F15C-04680EC700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C6BF71D8-5898-7F94-ABD8-2E9615DC34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73" name="Rectangle 72">
            <a:extLst>
              <a:ext uri="{FF2B5EF4-FFF2-40B4-BE49-F238E27FC236}">
                <a16:creationId xmlns:a16="http://schemas.microsoft.com/office/drawing/2014/main" id="{8D1CAD19-7B97-C152-8A0D-100E1D24C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Shape 74">
            <a:extLst>
              <a:ext uri="{FF2B5EF4-FFF2-40B4-BE49-F238E27FC236}">
                <a16:creationId xmlns:a16="http://schemas.microsoft.com/office/drawing/2014/main" id="{0D7B408D-8704-8381-83F5-49AB55D0A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6244921" y="-5976"/>
            <a:ext cx="5947079" cy="6874927"/>
          </a:xfrm>
          <a:custGeom>
            <a:avLst/>
            <a:gdLst>
              <a:gd name="connsiteX0" fmla="*/ 0 w 4584879"/>
              <a:gd name="connsiteY0" fmla="*/ 0 h 6863976"/>
              <a:gd name="connsiteX1" fmla="*/ 4584879 w 4584879"/>
              <a:gd name="connsiteY1" fmla="*/ 0 h 6863976"/>
              <a:gd name="connsiteX2" fmla="*/ 2493114 w 4584879"/>
              <a:gd name="connsiteY2" fmla="*/ 6863976 h 6863976"/>
              <a:gd name="connsiteX3" fmla="*/ 0 w 4584879"/>
              <a:gd name="connsiteY3" fmla="*/ 6863976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677452 w 4584879"/>
              <a:gd name="connsiteY2" fmla="*/ 6853025 h 6863976"/>
              <a:gd name="connsiteX3" fmla="*/ 0 w 4584879"/>
              <a:gd name="connsiteY3" fmla="*/ 6863976 h 6863976"/>
              <a:gd name="connsiteX4" fmla="*/ 0 w 4584879"/>
              <a:gd name="connsiteY4" fmla="*/ 0 h 6863976"/>
              <a:gd name="connsiteX0" fmla="*/ 0 w 4584879"/>
              <a:gd name="connsiteY0" fmla="*/ 0 h 6874927"/>
              <a:gd name="connsiteX1" fmla="*/ 4584879 w 4584879"/>
              <a:gd name="connsiteY1" fmla="*/ 0 h 6874927"/>
              <a:gd name="connsiteX2" fmla="*/ 3693787 w 4584879"/>
              <a:gd name="connsiteY2" fmla="*/ 6874927 h 6874927"/>
              <a:gd name="connsiteX3" fmla="*/ 0 w 4584879"/>
              <a:gd name="connsiteY3" fmla="*/ 6863976 h 6874927"/>
              <a:gd name="connsiteX4" fmla="*/ 0 w 4584879"/>
              <a:gd name="connsiteY4" fmla="*/ 0 h 6874927"/>
              <a:gd name="connsiteX0" fmla="*/ 0 w 4584879"/>
              <a:gd name="connsiteY0" fmla="*/ 0 h 6874927"/>
              <a:gd name="connsiteX1" fmla="*/ 4584879 w 4584879"/>
              <a:gd name="connsiteY1" fmla="*/ 0 h 6874927"/>
              <a:gd name="connsiteX2" fmla="*/ 3842978 w 4584879"/>
              <a:gd name="connsiteY2" fmla="*/ 6874927 h 6874927"/>
              <a:gd name="connsiteX3" fmla="*/ 0 w 4584879"/>
              <a:gd name="connsiteY3" fmla="*/ 6863976 h 6874927"/>
              <a:gd name="connsiteX4" fmla="*/ 0 w 4584879"/>
              <a:gd name="connsiteY4" fmla="*/ 0 h 6874927"/>
              <a:gd name="connsiteX0" fmla="*/ 0 w 4435688"/>
              <a:gd name="connsiteY0" fmla="*/ 0 h 6874927"/>
              <a:gd name="connsiteX1" fmla="*/ 4435688 w 4435688"/>
              <a:gd name="connsiteY1" fmla="*/ 4763 h 6874927"/>
              <a:gd name="connsiteX2" fmla="*/ 3842978 w 4435688"/>
              <a:gd name="connsiteY2" fmla="*/ 6874927 h 6874927"/>
              <a:gd name="connsiteX3" fmla="*/ 0 w 4435688"/>
              <a:gd name="connsiteY3" fmla="*/ 6863976 h 6874927"/>
              <a:gd name="connsiteX4" fmla="*/ 0 w 4435688"/>
              <a:gd name="connsiteY4" fmla="*/ 0 h 6874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5688" h="6874927">
                <a:moveTo>
                  <a:pt x="0" y="0"/>
                </a:moveTo>
                <a:lnTo>
                  <a:pt x="4435688" y="4763"/>
                </a:lnTo>
                <a:lnTo>
                  <a:pt x="3842978" y="6874927"/>
                </a:lnTo>
                <a:lnTo>
                  <a:pt x="0" y="6863976"/>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0A080BD-E1A2-F9C1-4943-60E05DF8DDE2}"/>
              </a:ext>
            </a:extLst>
          </p:cNvPr>
          <p:cNvSpPr>
            <a:spLocks noGrp="1"/>
          </p:cNvSpPr>
          <p:nvPr>
            <p:ph type="title"/>
          </p:nvPr>
        </p:nvSpPr>
        <p:spPr>
          <a:xfrm>
            <a:off x="7218705" y="542926"/>
            <a:ext cx="4439894" cy="1668143"/>
          </a:xfrm>
        </p:spPr>
        <p:txBody>
          <a:bodyPr vert="horz" lIns="91440" tIns="45720" rIns="91440" bIns="45720" rtlCol="0" anchor="ctr">
            <a:normAutofit/>
          </a:bodyPr>
          <a:lstStyle/>
          <a:p>
            <a:r>
              <a:rPr lang="en-US" sz="4400" dirty="0" err="1"/>
              <a:t>Resultados</a:t>
            </a:r>
          </a:p>
        </p:txBody>
      </p:sp>
      <p:cxnSp>
        <p:nvCxnSpPr>
          <p:cNvPr id="77" name="Straight Connector 76">
            <a:extLst>
              <a:ext uri="{FF2B5EF4-FFF2-40B4-BE49-F238E27FC236}">
                <a16:creationId xmlns:a16="http://schemas.microsoft.com/office/drawing/2014/main" id="{16347EBB-8BD3-A409-C707-FC671B8AA4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43268" y="0"/>
            <a:ext cx="488370" cy="688040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7480B7E-258A-D5A9-894D-B1F0F19CCDAA}"/>
              </a:ext>
            </a:extLst>
          </p:cNvPr>
          <p:cNvSpPr>
            <a:spLocks noGrp="1"/>
          </p:cNvSpPr>
          <p:nvPr>
            <p:ph sz="half" idx="2"/>
          </p:nvPr>
        </p:nvSpPr>
        <p:spPr>
          <a:xfrm>
            <a:off x="7218706" y="2222792"/>
            <a:ext cx="4662632" cy="4125254"/>
          </a:xfrm>
        </p:spPr>
        <p:txBody>
          <a:bodyPr vert="horz" lIns="91440" tIns="45720" rIns="91440" bIns="45720" rtlCol="0" anchor="t">
            <a:noAutofit/>
          </a:bodyPr>
          <a:lstStyle/>
          <a:p>
            <a:r>
              <a:rPr lang="en-US" sz="2400" err="1">
                <a:ea typeface="+mn-lt"/>
                <a:cs typeface="+mn-lt"/>
              </a:rPr>
              <a:t>Após</a:t>
            </a:r>
            <a:r>
              <a:rPr lang="en-US" sz="2400" dirty="0">
                <a:ea typeface="+mn-lt"/>
                <a:cs typeface="+mn-lt"/>
              </a:rPr>
              <a:t> </a:t>
            </a:r>
            <a:r>
              <a:rPr lang="en-US" sz="2400" err="1">
                <a:ea typeface="+mn-lt"/>
                <a:cs typeface="+mn-lt"/>
              </a:rPr>
              <a:t>cerca</a:t>
            </a:r>
            <a:r>
              <a:rPr lang="en-US" sz="2400" dirty="0">
                <a:ea typeface="+mn-lt"/>
                <a:cs typeface="+mn-lt"/>
              </a:rPr>
              <a:t> de </a:t>
            </a:r>
            <a:r>
              <a:rPr lang="en-US" sz="2400" b="1" dirty="0">
                <a:ea typeface="+mn-lt"/>
                <a:cs typeface="+mn-lt"/>
              </a:rPr>
              <a:t>50 </a:t>
            </a:r>
            <a:r>
              <a:rPr lang="en-US" sz="2400" b="1" err="1">
                <a:ea typeface="+mn-lt"/>
                <a:cs typeface="+mn-lt"/>
              </a:rPr>
              <a:t>episódios</a:t>
            </a:r>
            <a:r>
              <a:rPr lang="en-US" sz="2400" dirty="0">
                <a:ea typeface="+mn-lt"/>
                <a:cs typeface="+mn-lt"/>
              </a:rPr>
              <a:t>, a curva se </a:t>
            </a:r>
            <a:r>
              <a:rPr lang="en-US" sz="2400" err="1">
                <a:ea typeface="+mn-lt"/>
                <a:cs typeface="+mn-lt"/>
              </a:rPr>
              <a:t>estabiliza</a:t>
            </a:r>
            <a:r>
              <a:rPr lang="en-US" sz="2400" dirty="0">
                <a:ea typeface="+mn-lt"/>
                <a:cs typeface="+mn-lt"/>
              </a:rPr>
              <a:t>, </a:t>
            </a:r>
            <a:r>
              <a:rPr lang="en-US" sz="2400" err="1">
                <a:ea typeface="+mn-lt"/>
                <a:cs typeface="+mn-lt"/>
              </a:rPr>
              <a:t>indicando</a:t>
            </a:r>
            <a:r>
              <a:rPr lang="en-US" sz="2400" dirty="0">
                <a:ea typeface="+mn-lt"/>
                <a:cs typeface="+mn-lt"/>
              </a:rPr>
              <a:t> </a:t>
            </a:r>
            <a:r>
              <a:rPr lang="en-US" sz="2400" err="1">
                <a:ea typeface="+mn-lt"/>
                <a:cs typeface="+mn-lt"/>
              </a:rPr>
              <a:t>uma</a:t>
            </a:r>
            <a:r>
              <a:rPr lang="en-US" sz="2400" dirty="0">
                <a:ea typeface="+mn-lt"/>
                <a:cs typeface="+mn-lt"/>
              </a:rPr>
              <a:t> </a:t>
            </a:r>
            <a:r>
              <a:rPr lang="en-US" sz="2400" b="1" err="1">
                <a:ea typeface="+mn-lt"/>
                <a:cs typeface="+mn-lt"/>
              </a:rPr>
              <a:t>política</a:t>
            </a:r>
            <a:r>
              <a:rPr lang="en-US" sz="2400" b="1" dirty="0">
                <a:ea typeface="+mn-lt"/>
                <a:cs typeface="+mn-lt"/>
              </a:rPr>
              <a:t> </a:t>
            </a:r>
            <a:r>
              <a:rPr lang="en-US" sz="2400" b="1" err="1">
                <a:ea typeface="+mn-lt"/>
                <a:cs typeface="+mn-lt"/>
              </a:rPr>
              <a:t>próxima</a:t>
            </a:r>
            <a:r>
              <a:rPr lang="en-US" sz="2400" b="1" dirty="0">
                <a:ea typeface="+mn-lt"/>
                <a:cs typeface="+mn-lt"/>
              </a:rPr>
              <a:t> do </a:t>
            </a:r>
            <a:r>
              <a:rPr lang="en-US" sz="2400" b="1" err="1">
                <a:ea typeface="+mn-lt"/>
                <a:cs typeface="+mn-lt"/>
              </a:rPr>
              <a:t>ótimo</a:t>
            </a:r>
            <a:r>
              <a:rPr lang="en-US" sz="2400" dirty="0">
                <a:ea typeface="+mn-lt"/>
                <a:cs typeface="+mn-lt"/>
              </a:rPr>
              <a:t>;</a:t>
            </a:r>
            <a:endParaRPr lang="en-US" sz="2400"/>
          </a:p>
          <a:p>
            <a:r>
              <a:rPr lang="en-US" sz="2400" err="1">
                <a:ea typeface="+mn-lt"/>
                <a:cs typeface="+mn-lt"/>
              </a:rPr>
              <a:t>Pequenas</a:t>
            </a:r>
            <a:r>
              <a:rPr lang="en-US" sz="2400" dirty="0">
                <a:ea typeface="+mn-lt"/>
                <a:cs typeface="+mn-lt"/>
              </a:rPr>
              <a:t> </a:t>
            </a:r>
            <a:r>
              <a:rPr lang="en-US" sz="2400" err="1">
                <a:ea typeface="+mn-lt"/>
                <a:cs typeface="+mn-lt"/>
              </a:rPr>
              <a:t>oscilações</a:t>
            </a:r>
            <a:r>
              <a:rPr lang="en-US" sz="2400" dirty="0">
                <a:ea typeface="+mn-lt"/>
                <a:cs typeface="+mn-lt"/>
              </a:rPr>
              <a:t> </a:t>
            </a:r>
            <a:r>
              <a:rPr lang="en-US" sz="2400" err="1">
                <a:ea typeface="+mn-lt"/>
                <a:cs typeface="+mn-lt"/>
              </a:rPr>
              <a:t>refletem</a:t>
            </a:r>
            <a:r>
              <a:rPr lang="en-US" sz="2400" dirty="0">
                <a:ea typeface="+mn-lt"/>
                <a:cs typeface="+mn-lt"/>
              </a:rPr>
              <a:t> a </a:t>
            </a:r>
            <a:r>
              <a:rPr lang="en-US" sz="2400" b="1" err="1">
                <a:ea typeface="+mn-lt"/>
                <a:cs typeface="+mn-lt"/>
              </a:rPr>
              <a:t>natureza</a:t>
            </a:r>
            <a:r>
              <a:rPr lang="en-US" sz="2400" b="1" dirty="0">
                <a:ea typeface="+mn-lt"/>
                <a:cs typeface="+mn-lt"/>
              </a:rPr>
              <a:t> </a:t>
            </a:r>
            <a:r>
              <a:rPr lang="en-US" sz="2400" b="1" err="1">
                <a:ea typeface="+mn-lt"/>
                <a:cs typeface="+mn-lt"/>
              </a:rPr>
              <a:t>estocástica</a:t>
            </a:r>
            <a:r>
              <a:rPr lang="en-US" sz="2400" dirty="0">
                <a:ea typeface="+mn-lt"/>
                <a:cs typeface="+mn-lt"/>
              </a:rPr>
              <a:t> da </a:t>
            </a:r>
            <a:r>
              <a:rPr lang="en-US" sz="2400" err="1">
                <a:ea typeface="+mn-lt"/>
                <a:cs typeface="+mn-lt"/>
              </a:rPr>
              <a:t>política</a:t>
            </a:r>
            <a:r>
              <a:rPr lang="en-US" sz="2400" dirty="0">
                <a:ea typeface="+mn-lt"/>
                <a:cs typeface="+mn-lt"/>
              </a:rPr>
              <a:t> </a:t>
            </a:r>
            <a:r>
              <a:rPr lang="en-US" sz="2400" b="1" dirty="0">
                <a:ea typeface="+mn-lt"/>
                <a:cs typeface="+mn-lt"/>
              </a:rPr>
              <a:t>ε-greedy</a:t>
            </a:r>
            <a:r>
              <a:rPr lang="en-US" sz="2400" dirty="0">
                <a:ea typeface="+mn-lt"/>
                <a:cs typeface="+mn-lt"/>
              </a:rPr>
              <a:t> e do </a:t>
            </a:r>
            <a:r>
              <a:rPr lang="en-US" sz="2400" b="1" dirty="0">
                <a:ea typeface="+mn-lt"/>
                <a:cs typeface="+mn-lt"/>
              </a:rPr>
              <a:t>replay buffer</a:t>
            </a:r>
            <a:r>
              <a:rPr lang="en-US" sz="2400" dirty="0">
                <a:ea typeface="+mn-lt"/>
                <a:cs typeface="+mn-lt"/>
              </a:rPr>
              <a:t>;</a:t>
            </a:r>
          </a:p>
          <a:p>
            <a:r>
              <a:rPr lang="en-US" sz="2400" dirty="0">
                <a:ea typeface="+mn-lt"/>
                <a:cs typeface="+mn-lt"/>
              </a:rPr>
              <a:t>O </a:t>
            </a:r>
            <a:r>
              <a:rPr lang="en-US" sz="2400" dirty="0" err="1">
                <a:ea typeface="+mn-lt"/>
                <a:cs typeface="+mn-lt"/>
              </a:rPr>
              <a:t>padrão</a:t>
            </a:r>
            <a:r>
              <a:rPr lang="en-US" sz="2400" dirty="0">
                <a:ea typeface="+mn-lt"/>
                <a:cs typeface="+mn-lt"/>
              </a:rPr>
              <a:t> de </a:t>
            </a:r>
            <a:r>
              <a:rPr lang="en-US" sz="2400" dirty="0" err="1">
                <a:ea typeface="+mn-lt"/>
                <a:cs typeface="+mn-lt"/>
              </a:rPr>
              <a:t>convergência</a:t>
            </a:r>
            <a:r>
              <a:rPr lang="en-US" sz="2400" dirty="0">
                <a:ea typeface="+mn-lt"/>
                <a:cs typeface="+mn-lt"/>
              </a:rPr>
              <a:t> </a:t>
            </a:r>
            <a:r>
              <a:rPr lang="en-US" sz="2400" dirty="0" err="1">
                <a:ea typeface="+mn-lt"/>
                <a:cs typeface="+mn-lt"/>
              </a:rPr>
              <a:t>confirma</a:t>
            </a:r>
            <a:r>
              <a:rPr lang="en-US" sz="2400" dirty="0">
                <a:ea typeface="+mn-lt"/>
                <a:cs typeface="+mn-lt"/>
              </a:rPr>
              <a:t> o </a:t>
            </a:r>
            <a:r>
              <a:rPr lang="en-US" sz="2400" b="1" dirty="0" err="1">
                <a:ea typeface="+mn-lt"/>
                <a:cs typeface="+mn-lt"/>
              </a:rPr>
              <a:t>equilíbrio</a:t>
            </a:r>
            <a:r>
              <a:rPr lang="en-US" sz="2400" b="1" dirty="0">
                <a:ea typeface="+mn-lt"/>
                <a:cs typeface="+mn-lt"/>
              </a:rPr>
              <a:t> entre </a:t>
            </a:r>
            <a:r>
              <a:rPr lang="en-US" sz="2400" b="1" dirty="0" err="1">
                <a:ea typeface="+mn-lt"/>
                <a:cs typeface="+mn-lt"/>
              </a:rPr>
              <a:t>exploração</a:t>
            </a:r>
            <a:r>
              <a:rPr lang="en-US" sz="2400" b="1" dirty="0">
                <a:ea typeface="+mn-lt"/>
                <a:cs typeface="+mn-lt"/>
              </a:rPr>
              <a:t> e </a:t>
            </a:r>
            <a:r>
              <a:rPr lang="en-US" sz="2400" b="1" dirty="0" err="1">
                <a:ea typeface="+mn-lt"/>
                <a:cs typeface="+mn-lt"/>
              </a:rPr>
              <a:t>exploração</a:t>
            </a:r>
            <a:r>
              <a:rPr lang="en-US" sz="2400" dirty="0">
                <a:ea typeface="+mn-lt"/>
                <a:cs typeface="+mn-lt"/>
              </a:rPr>
              <a:t> e a </a:t>
            </a:r>
            <a:r>
              <a:rPr lang="en-US" sz="2400" b="1" dirty="0" err="1">
                <a:ea typeface="+mn-lt"/>
                <a:cs typeface="+mn-lt"/>
              </a:rPr>
              <a:t>estabilidade</a:t>
            </a:r>
            <a:r>
              <a:rPr lang="en-US" sz="2400" b="1" dirty="0">
                <a:ea typeface="+mn-lt"/>
                <a:cs typeface="+mn-lt"/>
              </a:rPr>
              <a:t> do </a:t>
            </a:r>
            <a:r>
              <a:rPr lang="en-US" sz="2400" b="1" dirty="0" err="1">
                <a:ea typeface="+mn-lt"/>
                <a:cs typeface="+mn-lt"/>
              </a:rPr>
              <a:t>aprendizado</a:t>
            </a:r>
            <a:r>
              <a:rPr lang="en-US" sz="2400" dirty="0">
                <a:ea typeface="+mn-lt"/>
                <a:cs typeface="+mn-lt"/>
              </a:rPr>
              <a:t>.</a:t>
            </a:r>
            <a:endParaRPr lang="en-US" sz="2400" dirty="0"/>
          </a:p>
        </p:txBody>
      </p:sp>
      <p:pic>
        <p:nvPicPr>
          <p:cNvPr id="6" name="Picture 5" descr="A graph with numbers and lines&#10;&#10;AI-generated content may be incorrect.">
            <a:extLst>
              <a:ext uri="{FF2B5EF4-FFF2-40B4-BE49-F238E27FC236}">
                <a16:creationId xmlns:a16="http://schemas.microsoft.com/office/drawing/2014/main" id="{AA061F34-BDD8-48F4-5AFE-F43EA29250FC}"/>
              </a:ext>
            </a:extLst>
          </p:cNvPr>
          <p:cNvPicPr>
            <a:picLocks noChangeAspect="1"/>
          </p:cNvPicPr>
          <p:nvPr/>
        </p:nvPicPr>
        <p:blipFill>
          <a:blip r:embed="rId3"/>
          <a:stretch>
            <a:fillRect/>
          </a:stretch>
        </p:blipFill>
        <p:spPr>
          <a:xfrm>
            <a:off x="153865" y="1948595"/>
            <a:ext cx="6104793" cy="2972534"/>
          </a:xfrm>
          <a:prstGeom prst="rect">
            <a:avLst/>
          </a:prstGeom>
        </p:spPr>
      </p:pic>
    </p:spTree>
    <p:extLst>
      <p:ext uri="{BB962C8B-B14F-4D97-AF65-F5344CB8AC3E}">
        <p14:creationId xmlns:p14="http://schemas.microsoft.com/office/powerpoint/2010/main" val="793885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0205D9-8A55-6FB6-6E4F-223B8F5544E8}"/>
            </a:ext>
          </a:extLst>
        </p:cNvPr>
        <p:cNvGrpSpPr/>
        <p:nvPr/>
      </p:nvGrpSpPr>
      <p:grpSpPr>
        <a:xfrm>
          <a:off x="0" y="0"/>
          <a:ext cx="0" cy="0"/>
          <a:chOff x="0" y="0"/>
          <a:chExt cx="0" cy="0"/>
        </a:xfrm>
      </p:grpSpPr>
      <p:cxnSp>
        <p:nvCxnSpPr>
          <p:cNvPr id="59" name="Straight Connector 58">
            <a:extLst>
              <a:ext uri="{FF2B5EF4-FFF2-40B4-BE49-F238E27FC236}">
                <a16:creationId xmlns:a16="http://schemas.microsoft.com/office/drawing/2014/main" id="{F8F5B257-1213-605D-156E-876104CFD2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7439726-676D-5AF2-05A0-9B34B4BC3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7B26392-9D71-0DBD-D56B-CF53498A15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CBA84C6-8217-C5A7-827E-41104269701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9534CCB7-FB49-C149-9FD3-37F7F09739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A7449E5-F4FA-0465-8319-69EFB62D40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47F5AC2-D140-A632-60C1-E3FD103654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73" name="Rectangle 72">
            <a:extLst>
              <a:ext uri="{FF2B5EF4-FFF2-40B4-BE49-F238E27FC236}">
                <a16:creationId xmlns:a16="http://schemas.microsoft.com/office/drawing/2014/main" id="{1E22599D-676F-F744-AC94-30419CD22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Shape 74">
            <a:extLst>
              <a:ext uri="{FF2B5EF4-FFF2-40B4-BE49-F238E27FC236}">
                <a16:creationId xmlns:a16="http://schemas.microsoft.com/office/drawing/2014/main" id="{6153453A-A276-09A0-F05B-64841D454A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6244921" y="-5976"/>
            <a:ext cx="5947079" cy="6874927"/>
          </a:xfrm>
          <a:custGeom>
            <a:avLst/>
            <a:gdLst>
              <a:gd name="connsiteX0" fmla="*/ 0 w 4584879"/>
              <a:gd name="connsiteY0" fmla="*/ 0 h 6863976"/>
              <a:gd name="connsiteX1" fmla="*/ 4584879 w 4584879"/>
              <a:gd name="connsiteY1" fmla="*/ 0 h 6863976"/>
              <a:gd name="connsiteX2" fmla="*/ 2493114 w 4584879"/>
              <a:gd name="connsiteY2" fmla="*/ 6863976 h 6863976"/>
              <a:gd name="connsiteX3" fmla="*/ 0 w 4584879"/>
              <a:gd name="connsiteY3" fmla="*/ 6863976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677452 w 4584879"/>
              <a:gd name="connsiteY2" fmla="*/ 6853025 h 6863976"/>
              <a:gd name="connsiteX3" fmla="*/ 0 w 4584879"/>
              <a:gd name="connsiteY3" fmla="*/ 6863976 h 6863976"/>
              <a:gd name="connsiteX4" fmla="*/ 0 w 4584879"/>
              <a:gd name="connsiteY4" fmla="*/ 0 h 6863976"/>
              <a:gd name="connsiteX0" fmla="*/ 0 w 4584879"/>
              <a:gd name="connsiteY0" fmla="*/ 0 h 6874927"/>
              <a:gd name="connsiteX1" fmla="*/ 4584879 w 4584879"/>
              <a:gd name="connsiteY1" fmla="*/ 0 h 6874927"/>
              <a:gd name="connsiteX2" fmla="*/ 3693787 w 4584879"/>
              <a:gd name="connsiteY2" fmla="*/ 6874927 h 6874927"/>
              <a:gd name="connsiteX3" fmla="*/ 0 w 4584879"/>
              <a:gd name="connsiteY3" fmla="*/ 6863976 h 6874927"/>
              <a:gd name="connsiteX4" fmla="*/ 0 w 4584879"/>
              <a:gd name="connsiteY4" fmla="*/ 0 h 6874927"/>
              <a:gd name="connsiteX0" fmla="*/ 0 w 4584879"/>
              <a:gd name="connsiteY0" fmla="*/ 0 h 6874927"/>
              <a:gd name="connsiteX1" fmla="*/ 4584879 w 4584879"/>
              <a:gd name="connsiteY1" fmla="*/ 0 h 6874927"/>
              <a:gd name="connsiteX2" fmla="*/ 3842978 w 4584879"/>
              <a:gd name="connsiteY2" fmla="*/ 6874927 h 6874927"/>
              <a:gd name="connsiteX3" fmla="*/ 0 w 4584879"/>
              <a:gd name="connsiteY3" fmla="*/ 6863976 h 6874927"/>
              <a:gd name="connsiteX4" fmla="*/ 0 w 4584879"/>
              <a:gd name="connsiteY4" fmla="*/ 0 h 6874927"/>
              <a:gd name="connsiteX0" fmla="*/ 0 w 4435688"/>
              <a:gd name="connsiteY0" fmla="*/ 0 h 6874927"/>
              <a:gd name="connsiteX1" fmla="*/ 4435688 w 4435688"/>
              <a:gd name="connsiteY1" fmla="*/ 4763 h 6874927"/>
              <a:gd name="connsiteX2" fmla="*/ 3842978 w 4435688"/>
              <a:gd name="connsiteY2" fmla="*/ 6874927 h 6874927"/>
              <a:gd name="connsiteX3" fmla="*/ 0 w 4435688"/>
              <a:gd name="connsiteY3" fmla="*/ 6863976 h 6874927"/>
              <a:gd name="connsiteX4" fmla="*/ 0 w 4435688"/>
              <a:gd name="connsiteY4" fmla="*/ 0 h 6874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5688" h="6874927">
                <a:moveTo>
                  <a:pt x="0" y="0"/>
                </a:moveTo>
                <a:lnTo>
                  <a:pt x="4435688" y="4763"/>
                </a:lnTo>
                <a:lnTo>
                  <a:pt x="3842978" y="6874927"/>
                </a:lnTo>
                <a:lnTo>
                  <a:pt x="0" y="6863976"/>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92B7694-6DE9-43E9-22C1-D7B046DC5D62}"/>
              </a:ext>
            </a:extLst>
          </p:cNvPr>
          <p:cNvSpPr>
            <a:spLocks noGrp="1"/>
          </p:cNvSpPr>
          <p:nvPr>
            <p:ph type="title"/>
          </p:nvPr>
        </p:nvSpPr>
        <p:spPr>
          <a:xfrm>
            <a:off x="7218705" y="542926"/>
            <a:ext cx="4439894" cy="1668143"/>
          </a:xfrm>
        </p:spPr>
        <p:txBody>
          <a:bodyPr vert="horz" lIns="91440" tIns="45720" rIns="91440" bIns="45720" rtlCol="0" anchor="ctr">
            <a:normAutofit/>
          </a:bodyPr>
          <a:lstStyle/>
          <a:p>
            <a:r>
              <a:rPr lang="en-US" sz="4400" dirty="0" err="1"/>
              <a:t>Resultados</a:t>
            </a:r>
          </a:p>
        </p:txBody>
      </p:sp>
      <p:cxnSp>
        <p:nvCxnSpPr>
          <p:cNvPr id="77" name="Straight Connector 76">
            <a:extLst>
              <a:ext uri="{FF2B5EF4-FFF2-40B4-BE49-F238E27FC236}">
                <a16:creationId xmlns:a16="http://schemas.microsoft.com/office/drawing/2014/main" id="{3FA3CF48-DDC8-4983-E151-82947715B8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43268" y="0"/>
            <a:ext cx="488370" cy="688040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EFE80F6-6ED8-6E10-0076-539C97667102}"/>
              </a:ext>
            </a:extLst>
          </p:cNvPr>
          <p:cNvSpPr>
            <a:spLocks noGrp="1"/>
          </p:cNvSpPr>
          <p:nvPr>
            <p:ph sz="half" idx="2"/>
          </p:nvPr>
        </p:nvSpPr>
        <p:spPr>
          <a:xfrm>
            <a:off x="7218706" y="2222792"/>
            <a:ext cx="4439894" cy="4113531"/>
          </a:xfrm>
        </p:spPr>
        <p:txBody>
          <a:bodyPr vert="horz" lIns="91440" tIns="45720" rIns="91440" bIns="45720" rtlCol="0" anchor="t">
            <a:normAutofit/>
          </a:bodyPr>
          <a:lstStyle/>
          <a:p>
            <a:r>
              <a:rPr lang="en-US" sz="2400" err="1">
                <a:ea typeface="+mn-lt"/>
                <a:cs typeface="+mn-lt"/>
              </a:rPr>
              <a:t>Avaliação</a:t>
            </a:r>
            <a:r>
              <a:rPr lang="en-US" sz="2400" dirty="0">
                <a:ea typeface="+mn-lt"/>
                <a:cs typeface="+mn-lt"/>
              </a:rPr>
              <a:t> </a:t>
            </a:r>
            <a:r>
              <a:rPr lang="en-US" sz="2400" err="1">
                <a:ea typeface="+mn-lt"/>
                <a:cs typeface="+mn-lt"/>
              </a:rPr>
              <a:t>realizada</a:t>
            </a:r>
            <a:r>
              <a:rPr lang="en-US" sz="2400" dirty="0">
                <a:ea typeface="+mn-lt"/>
                <a:cs typeface="+mn-lt"/>
              </a:rPr>
              <a:t> no </a:t>
            </a:r>
            <a:r>
              <a:rPr lang="en-US" sz="2400" err="1">
                <a:ea typeface="+mn-lt"/>
                <a:cs typeface="+mn-lt"/>
              </a:rPr>
              <a:t>ambiente</a:t>
            </a:r>
            <a:r>
              <a:rPr lang="en-US" sz="2400" dirty="0">
                <a:ea typeface="+mn-lt"/>
                <a:cs typeface="+mn-lt"/>
              </a:rPr>
              <a:t> </a:t>
            </a:r>
            <a:r>
              <a:rPr lang="en-US" sz="2400" b="1" err="1">
                <a:ea typeface="+mn-lt"/>
                <a:cs typeface="+mn-lt"/>
              </a:rPr>
              <a:t>MiniCity</a:t>
            </a:r>
            <a:r>
              <a:rPr lang="en-US" sz="2400" b="1" dirty="0">
                <a:ea typeface="+mn-lt"/>
                <a:cs typeface="+mn-lt"/>
              </a:rPr>
              <a:t> 3×3</a:t>
            </a:r>
            <a:r>
              <a:rPr lang="en-US" sz="2400" dirty="0">
                <a:ea typeface="+mn-lt"/>
                <a:cs typeface="+mn-lt"/>
              </a:rPr>
              <a:t> </a:t>
            </a:r>
            <a:r>
              <a:rPr lang="en-US" sz="2400" err="1">
                <a:ea typeface="+mn-lt"/>
                <a:cs typeface="+mn-lt"/>
              </a:rPr>
              <a:t>após</a:t>
            </a:r>
            <a:r>
              <a:rPr lang="en-US" sz="2400" dirty="0">
                <a:ea typeface="+mn-lt"/>
                <a:cs typeface="+mn-lt"/>
              </a:rPr>
              <a:t> o </a:t>
            </a:r>
            <a:r>
              <a:rPr lang="en-US" sz="2400" err="1">
                <a:ea typeface="+mn-lt"/>
                <a:cs typeface="+mn-lt"/>
              </a:rPr>
              <a:t>treinamento</a:t>
            </a:r>
            <a:r>
              <a:rPr lang="en-US" sz="2400" dirty="0">
                <a:ea typeface="+mn-lt"/>
                <a:cs typeface="+mn-lt"/>
              </a:rPr>
              <a:t>;</a:t>
            </a:r>
          </a:p>
          <a:p>
            <a:r>
              <a:rPr lang="en-US" sz="2400" dirty="0">
                <a:ea typeface="+mn-lt"/>
                <a:cs typeface="+mn-lt"/>
              </a:rPr>
              <a:t>O </a:t>
            </a:r>
            <a:r>
              <a:rPr lang="en-US" sz="2400" dirty="0" err="1">
                <a:ea typeface="+mn-lt"/>
                <a:cs typeface="+mn-lt"/>
              </a:rPr>
              <a:t>agente</a:t>
            </a:r>
            <a:r>
              <a:rPr lang="en-US" sz="2400" dirty="0">
                <a:ea typeface="+mn-lt"/>
                <a:cs typeface="+mn-lt"/>
              </a:rPr>
              <a:t> DQN </a:t>
            </a:r>
            <a:r>
              <a:rPr lang="en-US" sz="2400" b="1" dirty="0" err="1">
                <a:ea typeface="+mn-lt"/>
                <a:cs typeface="+mn-lt"/>
              </a:rPr>
              <a:t>convergiu</a:t>
            </a:r>
            <a:r>
              <a:rPr lang="en-US" sz="2400" b="1" dirty="0">
                <a:ea typeface="+mn-lt"/>
                <a:cs typeface="+mn-lt"/>
              </a:rPr>
              <a:t> para o </a:t>
            </a:r>
            <a:r>
              <a:rPr lang="en-US" sz="2400" b="1" dirty="0" err="1">
                <a:ea typeface="+mn-lt"/>
                <a:cs typeface="+mn-lt"/>
              </a:rPr>
              <a:t>caminho</a:t>
            </a:r>
            <a:r>
              <a:rPr lang="en-US" sz="2400" b="1" dirty="0">
                <a:ea typeface="+mn-lt"/>
                <a:cs typeface="+mn-lt"/>
              </a:rPr>
              <a:t> </a:t>
            </a:r>
            <a:r>
              <a:rPr lang="en-US" sz="2400" b="1" dirty="0" err="1">
                <a:ea typeface="+mn-lt"/>
                <a:cs typeface="+mn-lt"/>
              </a:rPr>
              <a:t>mais</a:t>
            </a:r>
            <a:r>
              <a:rPr lang="en-US" sz="2400" b="1" dirty="0">
                <a:ea typeface="+mn-lt"/>
                <a:cs typeface="+mn-lt"/>
              </a:rPr>
              <a:t> </a:t>
            </a:r>
            <a:r>
              <a:rPr lang="en-US" sz="2400" b="1" dirty="0" err="1">
                <a:ea typeface="+mn-lt"/>
                <a:cs typeface="+mn-lt"/>
              </a:rPr>
              <a:t>curto</a:t>
            </a:r>
            <a:r>
              <a:rPr lang="en-US" sz="2400" b="1" dirty="0">
                <a:ea typeface="+mn-lt"/>
                <a:cs typeface="+mn-lt"/>
              </a:rPr>
              <a:t> e </a:t>
            </a:r>
            <a:r>
              <a:rPr lang="en-US" sz="2400" b="1" dirty="0" err="1">
                <a:ea typeface="+mn-lt"/>
                <a:cs typeface="+mn-lt"/>
              </a:rPr>
              <a:t>confiável</a:t>
            </a:r>
            <a:r>
              <a:rPr lang="en-US" sz="2400" dirty="0">
                <a:ea typeface="+mn-lt"/>
                <a:cs typeface="+mn-lt"/>
              </a:rPr>
              <a:t> entre o Gateway e a RSU;</a:t>
            </a:r>
          </a:p>
          <a:p>
            <a:r>
              <a:rPr lang="en-US" sz="2400" dirty="0" err="1">
                <a:ea typeface="+mn-lt"/>
                <a:cs typeface="+mn-lt"/>
              </a:rPr>
              <a:t>Caminho</a:t>
            </a:r>
            <a:r>
              <a:rPr lang="en-US" sz="2400" dirty="0">
                <a:ea typeface="+mn-lt"/>
                <a:cs typeface="+mn-lt"/>
              </a:rPr>
              <a:t> </a:t>
            </a:r>
            <a:r>
              <a:rPr lang="en-US" sz="2400" dirty="0" err="1">
                <a:ea typeface="+mn-lt"/>
                <a:cs typeface="+mn-lt"/>
              </a:rPr>
              <a:t>ótimo</a:t>
            </a:r>
            <a:r>
              <a:rPr lang="en-US" sz="2400" dirty="0">
                <a:ea typeface="+mn-lt"/>
                <a:cs typeface="+mn-lt"/>
              </a:rPr>
              <a:t> </a:t>
            </a:r>
            <a:r>
              <a:rPr lang="en-US" sz="2400" dirty="0" err="1">
                <a:ea typeface="+mn-lt"/>
                <a:cs typeface="+mn-lt"/>
              </a:rPr>
              <a:t>aprendido</a:t>
            </a:r>
            <a:r>
              <a:rPr lang="en-US" sz="2400" dirty="0">
                <a:ea typeface="+mn-lt"/>
                <a:cs typeface="+mn-lt"/>
              </a:rPr>
              <a:t>:              </a:t>
            </a:r>
            <a:r>
              <a:rPr lang="en-US" sz="2400" b="1" dirty="0">
                <a:ea typeface="+mn-lt"/>
                <a:cs typeface="+mn-lt"/>
              </a:rPr>
              <a:t>0–3–4–7–8;</a:t>
            </a:r>
            <a:endParaRPr lang="en-US" sz="2400" dirty="0"/>
          </a:p>
        </p:txBody>
      </p:sp>
      <p:pic>
        <p:nvPicPr>
          <p:cNvPr id="4" name="Picture 3" descr="A grid of lines and dots&#10;&#10;AI-generated content may be incorrect.">
            <a:extLst>
              <a:ext uri="{FF2B5EF4-FFF2-40B4-BE49-F238E27FC236}">
                <a16:creationId xmlns:a16="http://schemas.microsoft.com/office/drawing/2014/main" id="{4A130F91-04E6-8137-C69D-7EDF4C9A9E82}"/>
              </a:ext>
            </a:extLst>
          </p:cNvPr>
          <p:cNvPicPr>
            <a:picLocks noChangeAspect="1"/>
          </p:cNvPicPr>
          <p:nvPr/>
        </p:nvPicPr>
        <p:blipFill>
          <a:blip r:embed="rId3"/>
          <a:stretch>
            <a:fillRect/>
          </a:stretch>
        </p:blipFill>
        <p:spPr>
          <a:xfrm>
            <a:off x="739287" y="628650"/>
            <a:ext cx="4781550" cy="5600700"/>
          </a:xfrm>
          <a:prstGeom prst="rect">
            <a:avLst/>
          </a:prstGeom>
        </p:spPr>
      </p:pic>
    </p:spTree>
    <p:extLst>
      <p:ext uri="{BB962C8B-B14F-4D97-AF65-F5344CB8AC3E}">
        <p14:creationId xmlns:p14="http://schemas.microsoft.com/office/powerpoint/2010/main" val="3988844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D7C8A0-A793-E270-EF9C-67FE805A2192}"/>
            </a:ext>
          </a:extLst>
        </p:cNvPr>
        <p:cNvGrpSpPr/>
        <p:nvPr/>
      </p:nvGrpSpPr>
      <p:grpSpPr>
        <a:xfrm>
          <a:off x="0" y="0"/>
          <a:ext cx="0" cy="0"/>
          <a:chOff x="0" y="0"/>
          <a:chExt cx="0" cy="0"/>
        </a:xfrm>
      </p:grpSpPr>
      <p:cxnSp>
        <p:nvCxnSpPr>
          <p:cNvPr id="59" name="Straight Connector 58">
            <a:extLst>
              <a:ext uri="{FF2B5EF4-FFF2-40B4-BE49-F238E27FC236}">
                <a16:creationId xmlns:a16="http://schemas.microsoft.com/office/drawing/2014/main" id="{A8E2B26B-AAE1-58C5-94A1-2CBB63CE3ED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945B201-C9B5-5834-584E-9CA82243F3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5E97BD3-0384-8215-614B-CB3587361C3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BCB8148-5112-C4DB-2E1D-E077EB3BF3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E53E90F-9D2D-DFD0-7E96-63B6EC802D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EE1F432-331B-2EDC-B979-56ED147AC1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8FC637D-25D8-CD8C-5F90-4779C10F89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73" name="Rectangle 72">
            <a:extLst>
              <a:ext uri="{FF2B5EF4-FFF2-40B4-BE49-F238E27FC236}">
                <a16:creationId xmlns:a16="http://schemas.microsoft.com/office/drawing/2014/main" id="{1E70B542-0187-3A8C-A731-E7295FF7A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Shape 74">
            <a:extLst>
              <a:ext uri="{FF2B5EF4-FFF2-40B4-BE49-F238E27FC236}">
                <a16:creationId xmlns:a16="http://schemas.microsoft.com/office/drawing/2014/main" id="{90C6B457-55F0-D06F-0712-03CB034B36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6244921" y="-5976"/>
            <a:ext cx="5947079" cy="6874927"/>
          </a:xfrm>
          <a:custGeom>
            <a:avLst/>
            <a:gdLst>
              <a:gd name="connsiteX0" fmla="*/ 0 w 4584879"/>
              <a:gd name="connsiteY0" fmla="*/ 0 h 6863976"/>
              <a:gd name="connsiteX1" fmla="*/ 4584879 w 4584879"/>
              <a:gd name="connsiteY1" fmla="*/ 0 h 6863976"/>
              <a:gd name="connsiteX2" fmla="*/ 2493114 w 4584879"/>
              <a:gd name="connsiteY2" fmla="*/ 6863976 h 6863976"/>
              <a:gd name="connsiteX3" fmla="*/ 0 w 4584879"/>
              <a:gd name="connsiteY3" fmla="*/ 6863976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677452 w 4584879"/>
              <a:gd name="connsiteY2" fmla="*/ 6853025 h 6863976"/>
              <a:gd name="connsiteX3" fmla="*/ 0 w 4584879"/>
              <a:gd name="connsiteY3" fmla="*/ 6863976 h 6863976"/>
              <a:gd name="connsiteX4" fmla="*/ 0 w 4584879"/>
              <a:gd name="connsiteY4" fmla="*/ 0 h 6863976"/>
              <a:gd name="connsiteX0" fmla="*/ 0 w 4584879"/>
              <a:gd name="connsiteY0" fmla="*/ 0 h 6874927"/>
              <a:gd name="connsiteX1" fmla="*/ 4584879 w 4584879"/>
              <a:gd name="connsiteY1" fmla="*/ 0 h 6874927"/>
              <a:gd name="connsiteX2" fmla="*/ 3693787 w 4584879"/>
              <a:gd name="connsiteY2" fmla="*/ 6874927 h 6874927"/>
              <a:gd name="connsiteX3" fmla="*/ 0 w 4584879"/>
              <a:gd name="connsiteY3" fmla="*/ 6863976 h 6874927"/>
              <a:gd name="connsiteX4" fmla="*/ 0 w 4584879"/>
              <a:gd name="connsiteY4" fmla="*/ 0 h 6874927"/>
              <a:gd name="connsiteX0" fmla="*/ 0 w 4584879"/>
              <a:gd name="connsiteY0" fmla="*/ 0 h 6874927"/>
              <a:gd name="connsiteX1" fmla="*/ 4584879 w 4584879"/>
              <a:gd name="connsiteY1" fmla="*/ 0 h 6874927"/>
              <a:gd name="connsiteX2" fmla="*/ 3842978 w 4584879"/>
              <a:gd name="connsiteY2" fmla="*/ 6874927 h 6874927"/>
              <a:gd name="connsiteX3" fmla="*/ 0 w 4584879"/>
              <a:gd name="connsiteY3" fmla="*/ 6863976 h 6874927"/>
              <a:gd name="connsiteX4" fmla="*/ 0 w 4584879"/>
              <a:gd name="connsiteY4" fmla="*/ 0 h 6874927"/>
              <a:gd name="connsiteX0" fmla="*/ 0 w 4435688"/>
              <a:gd name="connsiteY0" fmla="*/ 0 h 6874927"/>
              <a:gd name="connsiteX1" fmla="*/ 4435688 w 4435688"/>
              <a:gd name="connsiteY1" fmla="*/ 4763 h 6874927"/>
              <a:gd name="connsiteX2" fmla="*/ 3842978 w 4435688"/>
              <a:gd name="connsiteY2" fmla="*/ 6874927 h 6874927"/>
              <a:gd name="connsiteX3" fmla="*/ 0 w 4435688"/>
              <a:gd name="connsiteY3" fmla="*/ 6863976 h 6874927"/>
              <a:gd name="connsiteX4" fmla="*/ 0 w 4435688"/>
              <a:gd name="connsiteY4" fmla="*/ 0 h 6874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5688" h="6874927">
                <a:moveTo>
                  <a:pt x="0" y="0"/>
                </a:moveTo>
                <a:lnTo>
                  <a:pt x="4435688" y="4763"/>
                </a:lnTo>
                <a:lnTo>
                  <a:pt x="3842978" y="6874927"/>
                </a:lnTo>
                <a:lnTo>
                  <a:pt x="0" y="6863976"/>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51418BF-55AD-7AFB-B69B-A5B263986534}"/>
              </a:ext>
            </a:extLst>
          </p:cNvPr>
          <p:cNvSpPr>
            <a:spLocks noGrp="1"/>
          </p:cNvSpPr>
          <p:nvPr>
            <p:ph type="title"/>
          </p:nvPr>
        </p:nvSpPr>
        <p:spPr>
          <a:xfrm>
            <a:off x="7218705" y="542926"/>
            <a:ext cx="4439894" cy="1668143"/>
          </a:xfrm>
        </p:spPr>
        <p:txBody>
          <a:bodyPr vert="horz" lIns="91440" tIns="45720" rIns="91440" bIns="45720" rtlCol="0" anchor="ctr">
            <a:normAutofit/>
          </a:bodyPr>
          <a:lstStyle/>
          <a:p>
            <a:r>
              <a:rPr lang="en-US" sz="4400" dirty="0" err="1"/>
              <a:t>Resultados</a:t>
            </a:r>
          </a:p>
        </p:txBody>
      </p:sp>
      <p:cxnSp>
        <p:nvCxnSpPr>
          <p:cNvPr id="77" name="Straight Connector 76">
            <a:extLst>
              <a:ext uri="{FF2B5EF4-FFF2-40B4-BE49-F238E27FC236}">
                <a16:creationId xmlns:a16="http://schemas.microsoft.com/office/drawing/2014/main" id="{2354BF50-1BA2-7FD3-F196-FCB2BCCCA14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43268" y="0"/>
            <a:ext cx="488370" cy="688040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31AD877-CD22-524B-1801-799AA4E68BB8}"/>
              </a:ext>
            </a:extLst>
          </p:cNvPr>
          <p:cNvSpPr>
            <a:spLocks noGrp="1"/>
          </p:cNvSpPr>
          <p:nvPr>
            <p:ph sz="half" idx="2"/>
          </p:nvPr>
        </p:nvSpPr>
        <p:spPr>
          <a:xfrm>
            <a:off x="7218706" y="2105561"/>
            <a:ext cx="4803309" cy="4125254"/>
          </a:xfrm>
        </p:spPr>
        <p:txBody>
          <a:bodyPr vert="horz" lIns="91440" tIns="45720" rIns="91440" bIns="45720" rtlCol="0" anchor="t">
            <a:noAutofit/>
          </a:bodyPr>
          <a:lstStyle/>
          <a:p>
            <a:r>
              <a:rPr lang="en-US" sz="2400" err="1">
                <a:ea typeface="+mn-lt"/>
                <a:cs typeface="+mn-lt"/>
              </a:rPr>
              <a:t>Preferência</a:t>
            </a:r>
            <a:r>
              <a:rPr lang="en-US" sz="2400" dirty="0">
                <a:ea typeface="+mn-lt"/>
                <a:cs typeface="+mn-lt"/>
              </a:rPr>
              <a:t> </a:t>
            </a:r>
            <a:r>
              <a:rPr lang="en-US" sz="2400" err="1">
                <a:ea typeface="+mn-lt"/>
                <a:cs typeface="+mn-lt"/>
              </a:rPr>
              <a:t>explicada</a:t>
            </a:r>
            <a:r>
              <a:rPr lang="en-US" sz="2400" dirty="0">
                <a:ea typeface="+mn-lt"/>
                <a:cs typeface="+mn-lt"/>
              </a:rPr>
              <a:t> pela </a:t>
            </a:r>
            <a:r>
              <a:rPr lang="en-US" sz="2400" b="1" err="1">
                <a:ea typeface="+mn-lt"/>
                <a:cs typeface="+mn-lt"/>
              </a:rPr>
              <a:t>maior</a:t>
            </a:r>
            <a:r>
              <a:rPr lang="en-US" sz="2400" b="1" dirty="0">
                <a:ea typeface="+mn-lt"/>
                <a:cs typeface="+mn-lt"/>
              </a:rPr>
              <a:t> </a:t>
            </a:r>
            <a:r>
              <a:rPr lang="en-US" sz="2400" b="1" err="1">
                <a:ea typeface="+mn-lt"/>
                <a:cs typeface="+mn-lt"/>
              </a:rPr>
              <a:t>conectividade</a:t>
            </a:r>
            <a:r>
              <a:rPr lang="en-US" sz="2400" b="1" dirty="0">
                <a:ea typeface="+mn-lt"/>
                <a:cs typeface="+mn-lt"/>
              </a:rPr>
              <a:t> dos </a:t>
            </a:r>
            <a:r>
              <a:rPr lang="en-US" sz="2400" b="1" err="1">
                <a:ea typeface="+mn-lt"/>
                <a:cs typeface="+mn-lt"/>
              </a:rPr>
              <a:t>nós</a:t>
            </a:r>
            <a:r>
              <a:rPr lang="en-US" sz="2400" b="1" dirty="0">
                <a:ea typeface="+mn-lt"/>
                <a:cs typeface="+mn-lt"/>
              </a:rPr>
              <a:t> </a:t>
            </a:r>
            <a:r>
              <a:rPr lang="en-US" sz="2400" b="1" err="1">
                <a:ea typeface="+mn-lt"/>
                <a:cs typeface="+mn-lt"/>
              </a:rPr>
              <a:t>intermediários</a:t>
            </a:r>
            <a:r>
              <a:rPr lang="en-US" sz="2400" dirty="0">
                <a:ea typeface="+mn-lt"/>
                <a:cs typeface="+mn-lt"/>
              </a:rPr>
              <a:t>, </a:t>
            </a:r>
            <a:r>
              <a:rPr lang="en-US" sz="2400" err="1">
                <a:ea typeface="+mn-lt"/>
                <a:cs typeface="+mn-lt"/>
              </a:rPr>
              <a:t>reduzindo</a:t>
            </a:r>
            <a:r>
              <a:rPr lang="en-US" sz="2400" dirty="0">
                <a:ea typeface="+mn-lt"/>
                <a:cs typeface="+mn-lt"/>
              </a:rPr>
              <a:t> </a:t>
            </a:r>
            <a:r>
              <a:rPr lang="en-US" sz="2400" err="1">
                <a:ea typeface="+mn-lt"/>
                <a:cs typeface="+mn-lt"/>
              </a:rPr>
              <a:t>transições</a:t>
            </a:r>
            <a:r>
              <a:rPr lang="en-US" sz="2400" dirty="0">
                <a:ea typeface="+mn-lt"/>
                <a:cs typeface="+mn-lt"/>
              </a:rPr>
              <a:t> </a:t>
            </a:r>
            <a:r>
              <a:rPr lang="en-US" sz="2400" err="1">
                <a:ea typeface="+mn-lt"/>
                <a:cs typeface="+mn-lt"/>
              </a:rPr>
              <a:t>inválidas</a:t>
            </a:r>
            <a:r>
              <a:rPr lang="en-US" sz="2400" dirty="0">
                <a:ea typeface="+mn-lt"/>
                <a:cs typeface="+mn-lt"/>
              </a:rPr>
              <a:t>;</a:t>
            </a:r>
          </a:p>
          <a:p>
            <a:r>
              <a:rPr lang="en-US" sz="2400" dirty="0">
                <a:ea typeface="+mn-lt"/>
                <a:cs typeface="+mn-lt"/>
              </a:rPr>
              <a:t>A </a:t>
            </a:r>
            <a:r>
              <a:rPr lang="en-US" sz="2400" err="1">
                <a:ea typeface="+mn-lt"/>
                <a:cs typeface="+mn-lt"/>
              </a:rPr>
              <a:t>estratégia</a:t>
            </a:r>
            <a:r>
              <a:rPr lang="en-US" sz="2400" dirty="0">
                <a:ea typeface="+mn-lt"/>
                <a:cs typeface="+mn-lt"/>
              </a:rPr>
              <a:t> </a:t>
            </a:r>
            <a:r>
              <a:rPr lang="en-US" sz="2400" err="1">
                <a:ea typeface="+mn-lt"/>
                <a:cs typeface="+mn-lt"/>
              </a:rPr>
              <a:t>foi</a:t>
            </a:r>
            <a:r>
              <a:rPr lang="en-US" sz="2400" dirty="0">
                <a:ea typeface="+mn-lt"/>
                <a:cs typeface="+mn-lt"/>
              </a:rPr>
              <a:t> </a:t>
            </a:r>
            <a:r>
              <a:rPr lang="en-US" sz="2400" err="1">
                <a:ea typeface="+mn-lt"/>
                <a:cs typeface="+mn-lt"/>
              </a:rPr>
              <a:t>aprendida</a:t>
            </a:r>
            <a:r>
              <a:rPr lang="en-US" sz="2400" dirty="0">
                <a:ea typeface="+mn-lt"/>
                <a:cs typeface="+mn-lt"/>
              </a:rPr>
              <a:t> </a:t>
            </a:r>
            <a:r>
              <a:rPr lang="en-US" sz="2400" b="1" err="1">
                <a:ea typeface="+mn-lt"/>
                <a:cs typeface="+mn-lt"/>
              </a:rPr>
              <a:t>sem</a:t>
            </a:r>
            <a:r>
              <a:rPr lang="en-US" sz="2400" b="1" dirty="0">
                <a:ea typeface="+mn-lt"/>
                <a:cs typeface="+mn-lt"/>
              </a:rPr>
              <a:t> </a:t>
            </a:r>
            <a:r>
              <a:rPr lang="en-US" sz="2400" b="1" err="1">
                <a:ea typeface="+mn-lt"/>
                <a:cs typeface="+mn-lt"/>
              </a:rPr>
              <a:t>conhecimento</a:t>
            </a:r>
            <a:r>
              <a:rPr lang="en-US" sz="2400" b="1" dirty="0">
                <a:ea typeface="+mn-lt"/>
                <a:cs typeface="+mn-lt"/>
              </a:rPr>
              <a:t> </a:t>
            </a:r>
            <a:r>
              <a:rPr lang="en-US" sz="2400" b="1" err="1">
                <a:ea typeface="+mn-lt"/>
                <a:cs typeface="+mn-lt"/>
              </a:rPr>
              <a:t>prévio</a:t>
            </a:r>
            <a:r>
              <a:rPr lang="en-US" sz="2400" b="1" dirty="0">
                <a:ea typeface="+mn-lt"/>
                <a:cs typeface="+mn-lt"/>
              </a:rPr>
              <a:t> da </a:t>
            </a:r>
            <a:r>
              <a:rPr lang="en-US" sz="2400" b="1" err="1">
                <a:ea typeface="+mn-lt"/>
                <a:cs typeface="+mn-lt"/>
              </a:rPr>
              <a:t>topologia</a:t>
            </a:r>
            <a:r>
              <a:rPr lang="en-US" sz="2400" dirty="0">
                <a:ea typeface="+mn-lt"/>
                <a:cs typeface="+mn-lt"/>
              </a:rPr>
              <a:t>, </a:t>
            </a:r>
            <a:r>
              <a:rPr lang="en-US" sz="2400" err="1">
                <a:ea typeface="+mn-lt"/>
                <a:cs typeface="+mn-lt"/>
              </a:rPr>
              <a:t>apenas</a:t>
            </a:r>
            <a:r>
              <a:rPr lang="en-US" sz="2400" dirty="0">
                <a:ea typeface="+mn-lt"/>
                <a:cs typeface="+mn-lt"/>
              </a:rPr>
              <a:t> pela </a:t>
            </a:r>
            <a:r>
              <a:rPr lang="en-US" sz="2400" err="1">
                <a:ea typeface="+mn-lt"/>
                <a:cs typeface="+mn-lt"/>
              </a:rPr>
              <a:t>interação</a:t>
            </a:r>
            <a:r>
              <a:rPr lang="en-US" sz="2400" dirty="0">
                <a:ea typeface="+mn-lt"/>
                <a:cs typeface="+mn-lt"/>
              </a:rPr>
              <a:t> com o ambiente;</a:t>
            </a:r>
          </a:p>
          <a:p>
            <a:r>
              <a:rPr lang="en-US" sz="2400" err="1">
                <a:ea typeface="+mn-lt"/>
                <a:cs typeface="+mn-lt"/>
              </a:rPr>
              <a:t>Demonstra</a:t>
            </a:r>
            <a:r>
              <a:rPr lang="en-US" sz="2400" dirty="0">
                <a:ea typeface="+mn-lt"/>
                <a:cs typeface="+mn-lt"/>
              </a:rPr>
              <a:t> a </a:t>
            </a:r>
            <a:r>
              <a:rPr lang="en-US" sz="2400" b="1" err="1">
                <a:ea typeface="+mn-lt"/>
                <a:cs typeface="+mn-lt"/>
              </a:rPr>
              <a:t>capacidade</a:t>
            </a:r>
            <a:r>
              <a:rPr lang="en-US" sz="2400" b="1" dirty="0">
                <a:ea typeface="+mn-lt"/>
                <a:cs typeface="+mn-lt"/>
              </a:rPr>
              <a:t> do DQN </a:t>
            </a:r>
            <a:r>
              <a:rPr lang="en-US" sz="2400" b="1" err="1">
                <a:ea typeface="+mn-lt"/>
                <a:cs typeface="+mn-lt"/>
              </a:rPr>
              <a:t>em</a:t>
            </a:r>
            <a:r>
              <a:rPr lang="en-US" sz="2400" b="1" dirty="0">
                <a:ea typeface="+mn-lt"/>
                <a:cs typeface="+mn-lt"/>
              </a:rPr>
              <a:t> </a:t>
            </a:r>
            <a:r>
              <a:rPr lang="en-US" sz="2400" b="1" err="1">
                <a:ea typeface="+mn-lt"/>
                <a:cs typeface="+mn-lt"/>
              </a:rPr>
              <a:t>aprender</a:t>
            </a:r>
            <a:r>
              <a:rPr lang="en-US" sz="2400" b="1" dirty="0">
                <a:ea typeface="+mn-lt"/>
                <a:cs typeface="+mn-lt"/>
              </a:rPr>
              <a:t> </a:t>
            </a:r>
            <a:r>
              <a:rPr lang="en-US" sz="2400" b="1" err="1">
                <a:ea typeface="+mn-lt"/>
                <a:cs typeface="+mn-lt"/>
              </a:rPr>
              <a:t>políticas</a:t>
            </a:r>
            <a:r>
              <a:rPr lang="en-US" sz="2400" b="1" dirty="0">
                <a:ea typeface="+mn-lt"/>
                <a:cs typeface="+mn-lt"/>
              </a:rPr>
              <a:t> </a:t>
            </a:r>
            <a:r>
              <a:rPr lang="en-US" sz="2400" b="1" err="1">
                <a:ea typeface="+mn-lt"/>
                <a:cs typeface="+mn-lt"/>
              </a:rPr>
              <a:t>ótimas</a:t>
            </a:r>
            <a:r>
              <a:rPr lang="en-US" sz="2400" b="1" dirty="0">
                <a:ea typeface="+mn-lt"/>
                <a:cs typeface="+mn-lt"/>
              </a:rPr>
              <a:t> e robustas de </a:t>
            </a:r>
            <a:r>
              <a:rPr lang="en-US" sz="2400" b="1" err="1">
                <a:ea typeface="+mn-lt"/>
                <a:cs typeface="+mn-lt"/>
              </a:rPr>
              <a:t>roteamento</a:t>
            </a:r>
            <a:r>
              <a:rPr lang="en-US" sz="2400" dirty="0">
                <a:ea typeface="+mn-lt"/>
                <a:cs typeface="+mn-lt"/>
              </a:rPr>
              <a:t>.</a:t>
            </a:r>
          </a:p>
          <a:p>
            <a:endParaRPr lang="en-US" dirty="0"/>
          </a:p>
        </p:txBody>
      </p:sp>
      <p:pic>
        <p:nvPicPr>
          <p:cNvPr id="4" name="Picture 3" descr="A grid of lines and dots&#10;&#10;AI-generated content may be incorrect.">
            <a:extLst>
              <a:ext uri="{FF2B5EF4-FFF2-40B4-BE49-F238E27FC236}">
                <a16:creationId xmlns:a16="http://schemas.microsoft.com/office/drawing/2014/main" id="{6EBF27D1-7D65-59D7-5FDB-EECE91A60EAD}"/>
              </a:ext>
            </a:extLst>
          </p:cNvPr>
          <p:cNvPicPr>
            <a:picLocks noChangeAspect="1"/>
          </p:cNvPicPr>
          <p:nvPr/>
        </p:nvPicPr>
        <p:blipFill>
          <a:blip r:embed="rId3"/>
          <a:stretch>
            <a:fillRect/>
          </a:stretch>
        </p:blipFill>
        <p:spPr>
          <a:xfrm>
            <a:off x="739287" y="628650"/>
            <a:ext cx="4781550" cy="5600700"/>
          </a:xfrm>
          <a:prstGeom prst="rect">
            <a:avLst/>
          </a:prstGeom>
        </p:spPr>
      </p:pic>
    </p:spTree>
    <p:extLst>
      <p:ext uri="{BB962C8B-B14F-4D97-AF65-F5344CB8AC3E}">
        <p14:creationId xmlns:p14="http://schemas.microsoft.com/office/powerpoint/2010/main" val="3489815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6F984-194B-1A62-7ACA-1ECB8A9CCA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7A29CC-95B3-3B0B-77C6-6DC3FBCA064B}"/>
              </a:ext>
            </a:extLst>
          </p:cNvPr>
          <p:cNvSpPr>
            <a:spLocks noGrp="1"/>
          </p:cNvSpPr>
          <p:nvPr>
            <p:ph type="title"/>
          </p:nvPr>
        </p:nvSpPr>
        <p:spPr>
          <a:xfrm>
            <a:off x="1143000" y="521677"/>
            <a:ext cx="9906000" cy="667049"/>
          </a:xfrm>
          <a:noFill/>
        </p:spPr>
        <p:txBody>
          <a:bodyPr/>
          <a:lstStyle/>
          <a:p>
            <a:r>
              <a:rPr lang="en-US" dirty="0" err="1"/>
              <a:t>Conclusão</a:t>
            </a:r>
            <a:r>
              <a:rPr lang="en-US" dirty="0"/>
              <a:t> e </a:t>
            </a:r>
            <a:r>
              <a:rPr lang="en-US" dirty="0" err="1"/>
              <a:t>trabalhos</a:t>
            </a:r>
            <a:r>
              <a:rPr lang="en-US" dirty="0"/>
              <a:t> </a:t>
            </a:r>
            <a:r>
              <a:rPr lang="en-US" dirty="0" err="1"/>
              <a:t>futuros</a:t>
            </a:r>
          </a:p>
        </p:txBody>
      </p:sp>
      <p:pic>
        <p:nvPicPr>
          <p:cNvPr id="3" name="Picture 2" descr="A white text with black text&#10;&#10;AI-generated content may be incorrect.">
            <a:extLst>
              <a:ext uri="{FF2B5EF4-FFF2-40B4-BE49-F238E27FC236}">
                <a16:creationId xmlns:a16="http://schemas.microsoft.com/office/drawing/2014/main" id="{606A4924-2797-D114-CF0A-4E820049BE47}"/>
              </a:ext>
            </a:extLst>
          </p:cNvPr>
          <p:cNvPicPr>
            <a:picLocks noChangeAspect="1"/>
          </p:cNvPicPr>
          <p:nvPr/>
        </p:nvPicPr>
        <p:blipFill>
          <a:blip r:embed="rId3"/>
          <a:stretch>
            <a:fillRect/>
          </a:stretch>
        </p:blipFill>
        <p:spPr>
          <a:xfrm>
            <a:off x="927667" y="1413724"/>
            <a:ext cx="10339959" cy="4031581"/>
          </a:xfrm>
          <a:prstGeom prst="rect">
            <a:avLst/>
          </a:prstGeom>
        </p:spPr>
      </p:pic>
    </p:spTree>
    <p:extLst>
      <p:ext uri="{BB962C8B-B14F-4D97-AF65-F5344CB8AC3E}">
        <p14:creationId xmlns:p14="http://schemas.microsoft.com/office/powerpoint/2010/main" val="3903627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Placeholder 5" descr="Close-up of a bridge with wires">
            <a:extLst>
              <a:ext uri="{FF2B5EF4-FFF2-40B4-BE49-F238E27FC236}">
                <a16:creationId xmlns:a16="http://schemas.microsoft.com/office/drawing/2014/main" id="{E461669C-A7BA-D639-22CB-B5FBBE698B38}"/>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20" r="20"/>
          <a:stretch/>
        </p:blipFill>
        <p:spPr>
          <a:noFill/>
        </p:spPr>
      </p:pic>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noFill/>
        </p:spPr>
        <p:txBody>
          <a:bodyPr anchor="b"/>
          <a:lstStyle/>
          <a:p>
            <a:r>
              <a:rPr lang="en-US" dirty="0" err="1"/>
              <a:t>Obrigada</a:t>
            </a:r>
            <a:r>
              <a:rPr lang="en-US" dirty="0"/>
              <a:t>!</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xfrm>
            <a:off x="6233392" y="3974632"/>
            <a:ext cx="4902843" cy="1753221"/>
          </a:xfrm>
          <a:noFill/>
        </p:spPr>
        <p:txBody>
          <a:bodyPr anchor="t">
            <a:normAutofit/>
          </a:bodyPr>
          <a:lstStyle/>
          <a:p>
            <a:endParaRPr lang="en-US" dirty="0">
              <a:ea typeface="+mn-lt"/>
              <a:cs typeface="+mn-lt"/>
            </a:endParaRPr>
          </a:p>
          <a:p>
            <a:r>
              <a:rPr lang="en-US" dirty="0">
                <a:ea typeface="+mn-lt"/>
                <a:cs typeface="+mn-lt"/>
              </a:rPr>
              <a:t>ana.fernandes@mtel.inatel.br</a:t>
            </a:r>
            <a:endParaRPr lang="en-US" dirty="0"/>
          </a:p>
          <a:p>
            <a:r>
              <a:rPr lang="en-US" dirty="0"/>
              <a:t>bianca.sabrina@dtel.inatel.br</a:t>
            </a:r>
          </a:p>
        </p:txBody>
      </p:sp>
    </p:spTree>
    <p:extLst>
      <p:ext uri="{BB962C8B-B14F-4D97-AF65-F5344CB8AC3E}">
        <p14:creationId xmlns:p14="http://schemas.microsoft.com/office/powerpoint/2010/main" val="1210802199"/>
      </p:ext>
    </p:extLst>
  </p:cSld>
  <p:clrMapOvr>
    <a:masterClrMapping/>
  </p:clrMapOvr>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4D4B218-C04B-41F5-949D-06E9DAE96B0A}">
  <ds:schemaRefs>
    <ds:schemaRef ds:uri="http://schemas.microsoft.com/sharepoint/v3/contenttype/forms"/>
  </ds:schemaRefs>
</ds:datastoreItem>
</file>

<file path=customXml/itemProps2.xml><?xml version="1.0" encoding="utf-8"?>
<ds:datastoreItem xmlns:ds="http://schemas.openxmlformats.org/officeDocument/2006/customXml" ds:itemID="{B6283731-47E9-4F14-86D1-57C1EA2672A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81846AD4-435D-4592-8088-FE2831A30D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AngleLinesVTI</Template>
  <TotalTime>0</TotalTime>
  <Words>428</Words>
  <Application>Microsoft Office PowerPoint</Application>
  <PresentationFormat>Widescreen</PresentationFormat>
  <Paragraphs>123</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AngleLinesVTI</vt:lpstr>
      <vt:lpstr>Deep Q-Network Based Routing in a Simplified Vehicular Network: A Proof-of-Concept Study  </vt:lpstr>
      <vt:lpstr>AGENDA</vt:lpstr>
      <vt:lpstr>Motivação</vt:lpstr>
      <vt:lpstr>Motivação</vt:lpstr>
      <vt:lpstr>Trabalhos relacionados</vt:lpstr>
      <vt:lpstr>Solução proposta</vt:lpstr>
      <vt:lpstr>Solução proposta</vt:lpstr>
      <vt:lpstr>Solução proposta</vt:lpstr>
      <vt:lpstr>Solução proposta</vt:lpstr>
      <vt:lpstr>Resultados</vt:lpstr>
      <vt:lpstr>Resultados</vt:lpstr>
      <vt:lpstr>Resultados</vt:lpstr>
      <vt:lpstr>Resultados</vt:lpstr>
      <vt:lpstr>Conclusão e trabalhos futuros</vt:lpstr>
      <vt:lpstr>Obrigada!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303</cp:revision>
  <dcterms:created xsi:type="dcterms:W3CDTF">2025-11-11T21:02:52Z</dcterms:created>
  <dcterms:modified xsi:type="dcterms:W3CDTF">2025-11-25T18:56:57Z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